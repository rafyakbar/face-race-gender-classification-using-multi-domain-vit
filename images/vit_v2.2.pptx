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90" d="100"/>
          <a:sy n="90" d="100"/>
        </p:scale>
        <p:origin x="230" y="-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Step Banner 1"/>
          <p:cNvSpPr/>
          <p:nvPr/>
        </p:nvSpPr>
        <p:spPr>
          <a:xfrm>
            <a:off x="420000" y="2010000"/>
            <a:ext cx="1424500" cy="396000"/>
          </a:xfrm>
          <a:prstGeom prst="roundRect">
            <a:avLst>
              <a:gd name="adj" fmla="val 28000"/>
            </a:avLst>
          </a:prstGeom>
          <a:solidFill>
            <a:srgbClr val="FDF0E5"/>
          </a:solidFill>
          <a:ln>
            <a:noFill/>
          </a:ln>
        </p:spPr>
        <p:txBody>
          <a:bodyPr wrap="square" lIns="154000" tIns="22000" rIns="22000" bIns="22000" rtlCol="0" anchor="ctr"/>
          <a:lstStyle/>
          <a:p>
            <a:pPr algn="ctr"/>
            <a:r>
              <a:rPr lang="en-US" sz="950" dirty="0">
                <a:solidFill>
                  <a:srgbClr val="111111"/>
                </a:solidFill>
                <a:latin typeface="Times New Roman"/>
                <a:cs typeface="Times New Roman"/>
              </a:rPr>
              <a:t>Input image</a:t>
            </a:r>
          </a:p>
          <a:p>
            <a:pPr algn="ctr"/>
            <a:r>
              <a:rPr lang="en-US" sz="950" dirty="0">
                <a:solidFill>
                  <a:srgbClr val="111111"/>
                </a:solidFill>
                <a:latin typeface="Times New Roman"/>
                <a:cs typeface="Times New Roman"/>
              </a:rPr>
              <a:t>and preprocessing</a:t>
            </a:r>
          </a:p>
        </p:txBody>
      </p:sp>
      <p:sp>
        <p:nvSpPr>
          <p:cNvPr id="602" name="Badge Ring 1"/>
          <p:cNvSpPr/>
          <p:nvPr/>
        </p:nvSpPr>
        <p:spPr>
          <a:xfrm>
            <a:off x="326500" y="2026500"/>
            <a:ext cx="275000" cy="275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8DFD8"/>
            </a:solidFill>
          </a:ln>
        </p:spPr>
        <p:txBody>
          <a:bodyPr wrap="square" lIns="45720" tIns="22860" rIns="45720" bIns="22860" rtlCol="0" anchor="ctr"/>
          <a:lstStyle/>
          <a:p>
            <a:endParaRPr lang="en-US" sz="1100" dirty="0"/>
          </a:p>
        </p:txBody>
      </p:sp>
      <p:sp>
        <p:nvSpPr>
          <p:cNvPr id="603" name="Badge Circle 1"/>
          <p:cNvSpPr/>
          <p:nvPr/>
        </p:nvSpPr>
        <p:spPr>
          <a:xfrm>
            <a:off x="343000" y="2043000"/>
            <a:ext cx="242000" cy="242000"/>
          </a:xfrm>
          <a:prstGeom prst="ellipse">
            <a:avLst/>
          </a:prstGeom>
          <a:solidFill>
            <a:srgbClr val="F58237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604" name="Step Banner 2"/>
          <p:cNvSpPr/>
          <p:nvPr/>
        </p:nvSpPr>
        <p:spPr>
          <a:xfrm>
            <a:off x="2147000" y="2010000"/>
            <a:ext cx="1397000" cy="396000"/>
          </a:xfrm>
          <a:prstGeom prst="roundRect">
            <a:avLst>
              <a:gd name="adj" fmla="val 28000"/>
            </a:avLst>
          </a:prstGeom>
          <a:solidFill>
            <a:srgbClr val="FDF0E5"/>
          </a:solidFill>
          <a:ln>
            <a:noFill/>
          </a:ln>
        </p:spPr>
        <p:txBody>
          <a:bodyPr wrap="square" lIns="154000" tIns="22000" rIns="22000" bIns="22000" rtlCol="0" anchor="ctr"/>
          <a:lstStyle/>
          <a:p>
            <a:pPr algn="ctr"/>
            <a:r>
              <a:rPr lang="en-US" sz="950" dirty="0">
                <a:solidFill>
                  <a:srgbClr val="111111"/>
                </a:solidFill>
                <a:latin typeface="Times New Roman"/>
                <a:cs typeface="Times New Roman"/>
              </a:rPr>
              <a:t>Split into patches</a:t>
            </a:r>
          </a:p>
          <a:p>
            <a:pPr algn="ctr"/>
            <a:r>
              <a:rPr lang="en-US" sz="950" dirty="0">
                <a:solidFill>
                  <a:srgbClr val="111111"/>
                </a:solidFill>
                <a:latin typeface="Times New Roman"/>
                <a:cs typeface="Times New Roman"/>
              </a:rPr>
              <a:t>and flatten</a:t>
            </a:r>
          </a:p>
        </p:txBody>
      </p:sp>
      <p:sp>
        <p:nvSpPr>
          <p:cNvPr id="605" name="Badge Ring 2"/>
          <p:cNvSpPr/>
          <p:nvPr/>
        </p:nvSpPr>
        <p:spPr>
          <a:xfrm>
            <a:off x="2053500" y="2026500"/>
            <a:ext cx="275000" cy="275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8DFD8"/>
            </a:solidFill>
          </a:ln>
        </p:spPr>
        <p:txBody>
          <a:bodyPr wrap="square" lIns="45720" tIns="22860" rIns="45720" bIns="22860" rtlCol="0" anchor="ctr"/>
          <a:lstStyle/>
          <a:p>
            <a:endParaRPr lang="en-US" sz="1100" dirty="0"/>
          </a:p>
        </p:txBody>
      </p:sp>
      <p:sp>
        <p:nvSpPr>
          <p:cNvPr id="606" name="Badge Circle 2"/>
          <p:cNvSpPr/>
          <p:nvPr/>
        </p:nvSpPr>
        <p:spPr>
          <a:xfrm>
            <a:off x="2070000" y="2043000"/>
            <a:ext cx="242000" cy="242000"/>
          </a:xfrm>
          <a:prstGeom prst="ellipse">
            <a:avLst/>
          </a:prstGeom>
          <a:solidFill>
            <a:srgbClr val="F58237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607" name="Step Banner 3"/>
          <p:cNvSpPr/>
          <p:nvPr/>
        </p:nvSpPr>
        <p:spPr>
          <a:xfrm>
            <a:off x="3797000" y="2010000"/>
            <a:ext cx="1380500" cy="396000"/>
          </a:xfrm>
          <a:prstGeom prst="roundRect">
            <a:avLst>
              <a:gd name="adj" fmla="val 28000"/>
            </a:avLst>
          </a:prstGeom>
          <a:solidFill>
            <a:srgbClr val="FDF0E5"/>
          </a:solidFill>
          <a:ln>
            <a:noFill/>
          </a:ln>
        </p:spPr>
        <p:txBody>
          <a:bodyPr wrap="square" lIns="154000" tIns="22000" rIns="22000" bIns="22000" rtlCol="0" anchor="ctr"/>
          <a:lstStyle/>
          <a:p>
            <a:pPr algn="ctr"/>
            <a:r>
              <a:rPr lang="en-US" sz="950" dirty="0">
                <a:solidFill>
                  <a:srgbClr val="111111"/>
                </a:solidFill>
                <a:latin typeface="Times New Roman"/>
                <a:cs typeface="Times New Roman"/>
              </a:rPr>
              <a:t>Linear projection</a:t>
            </a:r>
          </a:p>
          <a:p>
            <a:pPr algn="ctr"/>
            <a:r>
              <a:rPr lang="en-US" sz="950" dirty="0">
                <a:solidFill>
                  <a:srgbClr val="111111"/>
                </a:solidFill>
                <a:latin typeface="Times New Roman"/>
                <a:cs typeface="Times New Roman"/>
              </a:rPr>
              <a:t>to patch embeddings</a:t>
            </a:r>
          </a:p>
        </p:txBody>
      </p:sp>
      <p:sp>
        <p:nvSpPr>
          <p:cNvPr id="608" name="Badge Ring 3"/>
          <p:cNvSpPr/>
          <p:nvPr/>
        </p:nvSpPr>
        <p:spPr>
          <a:xfrm>
            <a:off x="3703500" y="2026500"/>
            <a:ext cx="275000" cy="275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8DFD8"/>
            </a:solidFill>
          </a:ln>
        </p:spPr>
        <p:txBody>
          <a:bodyPr wrap="square" lIns="45720" tIns="22860" rIns="45720" bIns="22860" rtlCol="0" anchor="ctr"/>
          <a:lstStyle/>
          <a:p>
            <a:endParaRPr lang="en-US" sz="1100" dirty="0"/>
          </a:p>
        </p:txBody>
      </p:sp>
      <p:sp>
        <p:nvSpPr>
          <p:cNvPr id="609" name="Badge Circle 3"/>
          <p:cNvSpPr/>
          <p:nvPr/>
        </p:nvSpPr>
        <p:spPr>
          <a:xfrm>
            <a:off x="3720000" y="2043000"/>
            <a:ext cx="242000" cy="242000"/>
          </a:xfrm>
          <a:prstGeom prst="ellipse">
            <a:avLst/>
          </a:prstGeom>
          <a:solidFill>
            <a:srgbClr val="F58237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610" name="Step Banner 4"/>
          <p:cNvSpPr/>
          <p:nvPr/>
        </p:nvSpPr>
        <p:spPr>
          <a:xfrm>
            <a:off x="5392000" y="2010000"/>
            <a:ext cx="1556500" cy="396000"/>
          </a:xfrm>
          <a:prstGeom prst="roundRect">
            <a:avLst>
              <a:gd name="adj" fmla="val 28000"/>
            </a:avLst>
          </a:prstGeom>
          <a:solidFill>
            <a:srgbClr val="FDF0E5"/>
          </a:solidFill>
          <a:ln>
            <a:noFill/>
          </a:ln>
        </p:spPr>
        <p:txBody>
          <a:bodyPr wrap="square" lIns="154000" tIns="22000" rIns="22000" bIns="22000" rtlCol="0" anchor="ctr"/>
          <a:lstStyle/>
          <a:p>
            <a:pPr algn="ctr"/>
            <a:r>
              <a:rPr lang="en-US" sz="950" dirty="0">
                <a:solidFill>
                  <a:srgbClr val="111111"/>
                </a:solidFill>
                <a:latin typeface="Times New Roman"/>
                <a:cs typeface="Times New Roman"/>
              </a:rPr>
              <a:t>Add [CLS] token</a:t>
            </a:r>
          </a:p>
          <a:p>
            <a:pPr algn="ctr"/>
            <a:r>
              <a:rPr lang="en-US" sz="950" dirty="0">
                <a:solidFill>
                  <a:srgbClr val="111111"/>
                </a:solidFill>
                <a:latin typeface="Times New Roman"/>
                <a:cs typeface="Times New Roman"/>
              </a:rPr>
              <a:t>and positional embeddings</a:t>
            </a:r>
          </a:p>
        </p:txBody>
      </p:sp>
      <p:sp>
        <p:nvSpPr>
          <p:cNvPr id="611" name="Badge Ring 4"/>
          <p:cNvSpPr/>
          <p:nvPr/>
        </p:nvSpPr>
        <p:spPr>
          <a:xfrm>
            <a:off x="5298500" y="2026500"/>
            <a:ext cx="275000" cy="275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8DFD8"/>
            </a:solidFill>
          </a:ln>
        </p:spPr>
        <p:txBody>
          <a:bodyPr wrap="square" lIns="45720" tIns="22860" rIns="45720" bIns="22860" rtlCol="0" anchor="ctr"/>
          <a:lstStyle/>
          <a:p>
            <a:endParaRPr lang="en-US" sz="1100" dirty="0"/>
          </a:p>
        </p:txBody>
      </p:sp>
      <p:sp>
        <p:nvSpPr>
          <p:cNvPr id="612" name="Badge Circle 4"/>
          <p:cNvSpPr/>
          <p:nvPr/>
        </p:nvSpPr>
        <p:spPr>
          <a:xfrm>
            <a:off x="5315000" y="2043000"/>
            <a:ext cx="242000" cy="242000"/>
          </a:xfrm>
          <a:prstGeom prst="ellipse">
            <a:avLst/>
          </a:prstGeom>
          <a:solidFill>
            <a:srgbClr val="F58237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613" name="Step Banner 5"/>
          <p:cNvSpPr/>
          <p:nvPr/>
        </p:nvSpPr>
        <p:spPr>
          <a:xfrm>
            <a:off x="7157500" y="2010000"/>
            <a:ext cx="1556500" cy="396000"/>
          </a:xfrm>
          <a:prstGeom prst="roundRect">
            <a:avLst>
              <a:gd name="adj" fmla="val 28000"/>
            </a:avLst>
          </a:prstGeom>
          <a:solidFill>
            <a:srgbClr val="FDF0E5"/>
          </a:solidFill>
          <a:ln>
            <a:noFill/>
          </a:ln>
        </p:spPr>
        <p:txBody>
          <a:bodyPr wrap="square" lIns="154000" tIns="22000" rIns="22000" bIns="22000" rtlCol="0" anchor="ctr"/>
          <a:lstStyle/>
          <a:p>
            <a:pPr algn="ctr"/>
            <a:r>
              <a:rPr lang="en-US" sz="950" dirty="0">
                <a:solidFill>
                  <a:srgbClr val="111111"/>
                </a:solidFill>
                <a:latin typeface="Times New Roman"/>
                <a:cs typeface="Times New Roman"/>
              </a:rPr>
              <a:t>Extract [CLS] tokens</a:t>
            </a:r>
          </a:p>
          <a:p>
            <a:pPr algn="ctr"/>
            <a:r>
              <a:rPr lang="en-US" sz="950" dirty="0">
                <a:solidFill>
                  <a:srgbClr val="111111"/>
                </a:solidFill>
                <a:latin typeface="Times New Roman"/>
                <a:cs typeface="Times New Roman"/>
              </a:rPr>
              <a:t>from 3 frozen ViTs</a:t>
            </a:r>
          </a:p>
        </p:txBody>
      </p:sp>
      <p:sp>
        <p:nvSpPr>
          <p:cNvPr id="614" name="Badge Ring 5"/>
          <p:cNvSpPr/>
          <p:nvPr/>
        </p:nvSpPr>
        <p:spPr>
          <a:xfrm>
            <a:off x="7064000" y="2026500"/>
            <a:ext cx="275000" cy="275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8DFD8"/>
            </a:solidFill>
          </a:ln>
        </p:spPr>
        <p:txBody>
          <a:bodyPr wrap="square" lIns="45720" tIns="22860" rIns="45720" bIns="22860" rtlCol="0" anchor="ctr"/>
          <a:lstStyle/>
          <a:p>
            <a:endParaRPr lang="en-US" sz="1100" dirty="0"/>
          </a:p>
        </p:txBody>
      </p:sp>
      <p:sp>
        <p:nvSpPr>
          <p:cNvPr id="615" name="Badge Circle 5"/>
          <p:cNvSpPr/>
          <p:nvPr/>
        </p:nvSpPr>
        <p:spPr>
          <a:xfrm>
            <a:off x="7080500" y="2043000"/>
            <a:ext cx="242000" cy="242000"/>
          </a:xfrm>
          <a:prstGeom prst="ellipse">
            <a:avLst/>
          </a:prstGeom>
          <a:solidFill>
            <a:srgbClr val="F58237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</a:p>
        </p:txBody>
      </p:sp>
      <p:sp>
        <p:nvSpPr>
          <p:cNvPr id="616" name="Step Banner 6"/>
          <p:cNvSpPr/>
          <p:nvPr/>
        </p:nvSpPr>
        <p:spPr>
          <a:xfrm>
            <a:off x="8945000" y="2010000"/>
            <a:ext cx="1419000" cy="396000"/>
          </a:xfrm>
          <a:prstGeom prst="roundRect">
            <a:avLst>
              <a:gd name="adj" fmla="val 28000"/>
            </a:avLst>
          </a:prstGeom>
          <a:solidFill>
            <a:srgbClr val="FDF0E5"/>
          </a:solidFill>
          <a:ln>
            <a:noFill/>
          </a:ln>
        </p:spPr>
        <p:txBody>
          <a:bodyPr wrap="square" lIns="154000" tIns="22000" rIns="22000" bIns="22000" rtlCol="0" anchor="ctr"/>
          <a:lstStyle/>
          <a:p>
            <a:pPr algn="ctr"/>
            <a:r>
              <a:rPr lang="en-US" sz="950" dirty="0">
                <a:solidFill>
                  <a:srgbClr val="111111"/>
                </a:solidFill>
                <a:latin typeface="Times New Roman"/>
                <a:cs typeface="Times New Roman"/>
              </a:rPr>
              <a:t>Multi-domain</a:t>
            </a:r>
          </a:p>
          <a:p>
            <a:pPr algn="ctr"/>
            <a:r>
              <a:rPr lang="en-US" sz="950" dirty="0">
                <a:solidFill>
                  <a:srgbClr val="111111"/>
                </a:solidFill>
                <a:latin typeface="Times New Roman"/>
                <a:cs typeface="Times New Roman"/>
              </a:rPr>
              <a:t>feature fusion (⊕)</a:t>
            </a:r>
          </a:p>
        </p:txBody>
      </p:sp>
      <p:sp>
        <p:nvSpPr>
          <p:cNvPr id="617" name="Badge Ring 6"/>
          <p:cNvSpPr/>
          <p:nvPr/>
        </p:nvSpPr>
        <p:spPr>
          <a:xfrm>
            <a:off x="8851500" y="2026500"/>
            <a:ext cx="275000" cy="275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8DFD8"/>
            </a:solidFill>
          </a:ln>
        </p:spPr>
        <p:txBody>
          <a:bodyPr wrap="square" lIns="45720" tIns="22860" rIns="45720" bIns="22860" rtlCol="0" anchor="ctr"/>
          <a:lstStyle/>
          <a:p>
            <a:endParaRPr lang="en-US" sz="1100" dirty="0"/>
          </a:p>
        </p:txBody>
      </p:sp>
      <p:sp>
        <p:nvSpPr>
          <p:cNvPr id="618" name="Badge Circle 6"/>
          <p:cNvSpPr/>
          <p:nvPr/>
        </p:nvSpPr>
        <p:spPr>
          <a:xfrm>
            <a:off x="8868000" y="2043000"/>
            <a:ext cx="242000" cy="242000"/>
          </a:xfrm>
          <a:prstGeom prst="ellipse">
            <a:avLst/>
          </a:prstGeom>
          <a:solidFill>
            <a:srgbClr val="F58237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619" name="Step Banner 7"/>
          <p:cNvSpPr/>
          <p:nvPr/>
        </p:nvSpPr>
        <p:spPr>
          <a:xfrm>
            <a:off x="10584000" y="2010000"/>
            <a:ext cx="1353000" cy="396000"/>
          </a:xfrm>
          <a:prstGeom prst="roundRect">
            <a:avLst>
              <a:gd name="adj" fmla="val 28000"/>
            </a:avLst>
          </a:prstGeom>
          <a:solidFill>
            <a:srgbClr val="FDF0E5"/>
          </a:solidFill>
          <a:ln>
            <a:noFill/>
          </a:ln>
        </p:spPr>
        <p:txBody>
          <a:bodyPr wrap="square" lIns="154000" tIns="22000" rIns="22000" bIns="22000" rtlCol="0" anchor="ctr"/>
          <a:lstStyle/>
          <a:p>
            <a:pPr algn="ctr"/>
            <a:r>
              <a:rPr lang="en-US" sz="950" dirty="0">
                <a:solidFill>
                  <a:srgbClr val="111111"/>
                </a:solidFill>
                <a:latin typeface="Times New Roman"/>
                <a:cs typeface="Times New Roman"/>
              </a:rPr>
              <a:t>Downstream</a:t>
            </a:r>
          </a:p>
          <a:p>
            <a:pPr algn="ctr"/>
            <a:r>
              <a:rPr lang="en-US" sz="950" dirty="0">
                <a:solidFill>
                  <a:srgbClr val="111111"/>
                </a:solidFill>
                <a:latin typeface="Times New Roman"/>
                <a:cs typeface="Times New Roman"/>
              </a:rPr>
              <a:t>classification</a:t>
            </a:r>
          </a:p>
        </p:txBody>
      </p:sp>
      <p:sp>
        <p:nvSpPr>
          <p:cNvPr id="620" name="Badge Ring 7"/>
          <p:cNvSpPr/>
          <p:nvPr/>
        </p:nvSpPr>
        <p:spPr>
          <a:xfrm>
            <a:off x="10490500" y="2026500"/>
            <a:ext cx="275000" cy="275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8DFD8"/>
            </a:solidFill>
          </a:ln>
        </p:spPr>
        <p:txBody>
          <a:bodyPr wrap="square" lIns="45720" tIns="22860" rIns="45720" bIns="22860" rtlCol="0" anchor="ctr"/>
          <a:lstStyle/>
          <a:p>
            <a:endParaRPr lang="en-US" sz="1100" dirty="0"/>
          </a:p>
        </p:txBody>
      </p:sp>
      <p:sp>
        <p:nvSpPr>
          <p:cNvPr id="621" name="Badge Circle 7"/>
          <p:cNvSpPr/>
          <p:nvPr/>
        </p:nvSpPr>
        <p:spPr>
          <a:xfrm>
            <a:off x="10507000" y="2043000"/>
            <a:ext cx="242000" cy="242000"/>
          </a:xfrm>
          <a:prstGeom prst="ellipse">
            <a:avLst/>
          </a:prstGeom>
          <a:solidFill>
            <a:srgbClr val="F58237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</a:p>
        </p:txBody>
      </p:sp>
      <p:pic>
        <p:nvPicPr>
          <p:cNvPr id="622" name="Input Face">
            <a:extLst>
              <a:ext uri="{FF2B5EF4-FFF2-40B4-BE49-F238E27FC236}">
                <a16:creationId xmlns:a16="http://schemas.microsoft.com/office/drawing/2014/main" id="{EA2E8FC5-9E7F-6D45-5962-8128A1A8E6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1000" y="2593000"/>
            <a:ext cx="1232000" cy="1232000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Input Dim Label"/>
          <p:cNvSpPr txBox="1"/>
          <p:nvPr/>
        </p:nvSpPr>
        <p:spPr>
          <a:xfrm>
            <a:off x="321000" y="3880000"/>
            <a:ext cx="1232000" cy="34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150" dirty="0">
                <a:solidFill>
                  <a:srgbClr val="000000"/>
                </a:solidFill>
                <a:latin typeface="Times New Roman"/>
                <a:cs typeface="Times New Roman"/>
              </a:rPr>
              <a:t>224 × 224 × 3</a:t>
            </a:r>
          </a:p>
          <a:p>
            <a:pPr algn="ctr"/>
            <a:r>
              <a:rPr lang="en-US" sz="1150" dirty="0">
                <a:solidFill>
                  <a:srgbClr val="000000"/>
                </a:solidFill>
                <a:latin typeface="Times New Roman"/>
                <a:cs typeface="Times New Roman"/>
              </a:rPr>
              <a:t>(RGB)</a:t>
            </a:r>
          </a:p>
        </p:txBody>
      </p:sp>
      <p:cxnSp>
        <p:nvCxnSpPr>
          <p:cNvPr id="624" name="Arrow 1 to 2"/>
          <p:cNvCxnSpPr>
            <a:cxnSpLocks/>
          </p:cNvCxnSpPr>
          <p:nvPr/>
        </p:nvCxnSpPr>
        <p:spPr>
          <a:xfrm>
            <a:off x="1569500" y="3209000"/>
            <a:ext cx="231000" cy="0"/>
          </a:xfrm>
          <a:prstGeom prst="straightConnector1">
            <a:avLst/>
          </a:prstGeom>
          <a:ln w="14000">
            <a:solidFill>
              <a:srgbClr val="000000"/>
            </a:solidFill>
            <a:tailEnd type="triangle" w="med" len="med"/>
          </a:ln>
        </p:spPr>
      </p:cxnSp>
      <p:pic>
        <p:nvPicPr>
          <p:cNvPr id="625" name="Grid Face">
            <a:extLst>
              <a:ext uri="{FF2B5EF4-FFF2-40B4-BE49-F238E27FC236}">
                <a16:creationId xmlns:a16="http://schemas.microsoft.com/office/drawing/2014/main" id="{EA2E8FC5-9E7F-6D45-5962-8128A1A8E6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828000" y="2593000"/>
            <a:ext cx="1100000" cy="1232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26" name="Grid V 360"/>
          <p:cNvCxnSpPr>
            <a:cxnSpLocks/>
          </p:cNvCxnSpPr>
          <p:nvPr/>
        </p:nvCxnSpPr>
        <p:spPr>
          <a:xfrm>
            <a:off x="2103000" y="2593000"/>
            <a:ext cx="0" cy="1232000"/>
          </a:xfrm>
          <a:prstGeom prst="straightConnector1">
            <a:avLst/>
          </a:prstGeom>
          <a:ln w="22000">
            <a:solidFill>
              <a:srgbClr val="FFFFFF"/>
            </a:solidFill>
          </a:ln>
        </p:spPr>
      </p:cxnSp>
      <p:cxnSp>
        <p:nvCxnSpPr>
          <p:cNvPr id="627" name="Grid V 410"/>
          <p:cNvCxnSpPr>
            <a:cxnSpLocks/>
          </p:cNvCxnSpPr>
          <p:nvPr/>
        </p:nvCxnSpPr>
        <p:spPr>
          <a:xfrm>
            <a:off x="2378000" y="2593000"/>
            <a:ext cx="0" cy="1232000"/>
          </a:xfrm>
          <a:prstGeom prst="straightConnector1">
            <a:avLst/>
          </a:prstGeom>
          <a:ln w="22000">
            <a:solidFill>
              <a:srgbClr val="FFFFFF"/>
            </a:solidFill>
          </a:ln>
        </p:spPr>
      </p:cxnSp>
      <p:cxnSp>
        <p:nvCxnSpPr>
          <p:cNvPr id="628" name="Grid V 460"/>
          <p:cNvCxnSpPr>
            <a:cxnSpLocks/>
          </p:cNvCxnSpPr>
          <p:nvPr/>
        </p:nvCxnSpPr>
        <p:spPr>
          <a:xfrm>
            <a:off x="2653000" y="2593000"/>
            <a:ext cx="0" cy="1232000"/>
          </a:xfrm>
          <a:prstGeom prst="straightConnector1">
            <a:avLst/>
          </a:prstGeom>
          <a:ln w="22000">
            <a:solidFill>
              <a:srgbClr val="FFFFFF"/>
            </a:solidFill>
          </a:ln>
        </p:spPr>
      </p:cxnSp>
      <p:cxnSp>
        <p:nvCxnSpPr>
          <p:cNvPr id="629" name="Grid H 282"/>
          <p:cNvCxnSpPr>
            <a:cxnSpLocks/>
          </p:cNvCxnSpPr>
          <p:nvPr/>
        </p:nvCxnSpPr>
        <p:spPr>
          <a:xfrm>
            <a:off x="1828000" y="2901000"/>
            <a:ext cx="1100000" cy="0"/>
          </a:xfrm>
          <a:prstGeom prst="straightConnector1">
            <a:avLst/>
          </a:prstGeom>
          <a:ln w="22000">
            <a:solidFill>
              <a:srgbClr val="FFFFFF"/>
            </a:solidFill>
          </a:ln>
        </p:spPr>
      </p:cxnSp>
      <p:cxnSp>
        <p:nvCxnSpPr>
          <p:cNvPr id="630" name="Grid H 338"/>
          <p:cNvCxnSpPr>
            <a:cxnSpLocks/>
          </p:cNvCxnSpPr>
          <p:nvPr/>
        </p:nvCxnSpPr>
        <p:spPr>
          <a:xfrm>
            <a:off x="1828000" y="3209000"/>
            <a:ext cx="1100000" cy="0"/>
          </a:xfrm>
          <a:prstGeom prst="straightConnector1">
            <a:avLst/>
          </a:prstGeom>
          <a:ln w="22000">
            <a:solidFill>
              <a:srgbClr val="FFFFFF"/>
            </a:solidFill>
          </a:ln>
        </p:spPr>
      </p:cxnSp>
      <p:cxnSp>
        <p:nvCxnSpPr>
          <p:cNvPr id="631" name="Grid H 394"/>
          <p:cNvCxnSpPr>
            <a:cxnSpLocks/>
          </p:cNvCxnSpPr>
          <p:nvPr/>
        </p:nvCxnSpPr>
        <p:spPr>
          <a:xfrm>
            <a:off x="1828000" y="3517000"/>
            <a:ext cx="1100000" cy="0"/>
          </a:xfrm>
          <a:prstGeom prst="straightConnector1">
            <a:avLst/>
          </a:prstGeom>
          <a:ln w="22000">
            <a:solidFill>
              <a:srgbClr val="FFFFFF"/>
            </a:solidFill>
          </a:ln>
        </p:spPr>
      </p:cxnSp>
      <p:cxnSp>
        <p:nvCxnSpPr>
          <p:cNvPr id="632" name="Arrow Grid to Strips"/>
          <p:cNvCxnSpPr>
            <a:cxnSpLocks/>
          </p:cNvCxnSpPr>
          <p:nvPr/>
        </p:nvCxnSpPr>
        <p:spPr>
          <a:xfrm>
            <a:off x="2944500" y="3209000"/>
            <a:ext cx="143000" cy="0"/>
          </a:xfrm>
          <a:prstGeom prst="straightConnector1">
            <a:avLst/>
          </a:prstGeom>
          <a:ln w="14000">
            <a:solidFill>
              <a:srgbClr val="000000"/>
            </a:solidFill>
            <a:tailEnd type="triangle" w="med" len="med"/>
          </a:ln>
        </p:spPr>
      </p:cxnSp>
      <p:pic>
        <p:nvPicPr>
          <p:cNvPr id="633" name="Patch Thumb 1">
            <a:extLst>
              <a:ext uri="{FF2B5EF4-FFF2-40B4-BE49-F238E27FC236}">
                <a16:creationId xmlns:a16="http://schemas.microsoft.com/office/drawing/2014/main" id="{EA2E8FC5-9E7F-6D45-5962-8128A1A8E6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667" b="66667"/>
          <a:stretch>
            <a:fillRect/>
          </a:stretch>
        </p:blipFill>
        <p:spPr bwMode="auto">
          <a:xfrm>
            <a:off x="3104000" y="2593000"/>
            <a:ext cx="220000" cy="18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4" name="Patch Thumb 2">
            <a:extLst>
              <a:ext uri="{FF2B5EF4-FFF2-40B4-BE49-F238E27FC236}">
                <a16:creationId xmlns:a16="http://schemas.microsoft.com/office/drawing/2014/main" id="{EA2E8FC5-9E7F-6D45-5962-8128A1A8E6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33" r="33333" b="66667"/>
          <a:stretch>
            <a:fillRect/>
          </a:stretch>
        </p:blipFill>
        <p:spPr bwMode="auto">
          <a:xfrm>
            <a:off x="3104000" y="2791000"/>
            <a:ext cx="220000" cy="18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5" name="Patch Thumb 3">
            <a:extLst>
              <a:ext uri="{FF2B5EF4-FFF2-40B4-BE49-F238E27FC236}">
                <a16:creationId xmlns:a16="http://schemas.microsoft.com/office/drawing/2014/main" id="{EA2E8FC5-9E7F-6D45-5962-8128A1A8E6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33" t="33333" r="33333" b="33333"/>
          <a:stretch>
            <a:fillRect/>
          </a:stretch>
        </p:blipFill>
        <p:spPr bwMode="auto">
          <a:xfrm>
            <a:off x="3104000" y="2989000"/>
            <a:ext cx="220000" cy="18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6" name="Patch Thumb 4">
            <a:extLst>
              <a:ext uri="{FF2B5EF4-FFF2-40B4-BE49-F238E27FC236}">
                <a16:creationId xmlns:a16="http://schemas.microsoft.com/office/drawing/2014/main" id="{EA2E8FC5-9E7F-6D45-5962-8128A1A8E6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33" t="66667" r="33333"/>
          <a:stretch>
            <a:fillRect/>
          </a:stretch>
        </p:blipFill>
        <p:spPr bwMode="auto">
          <a:xfrm>
            <a:off x="3104000" y="3187000"/>
            <a:ext cx="220000" cy="18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7" name="Patch Thumb 5">
            <a:extLst>
              <a:ext uri="{FF2B5EF4-FFF2-40B4-BE49-F238E27FC236}">
                <a16:creationId xmlns:a16="http://schemas.microsoft.com/office/drawing/2014/main" id="{EA2E8FC5-9E7F-6D45-5962-8128A1A8E6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667" r="66667"/>
          <a:stretch>
            <a:fillRect/>
          </a:stretch>
        </p:blipFill>
        <p:spPr bwMode="auto">
          <a:xfrm>
            <a:off x="3104000" y="3385000"/>
            <a:ext cx="220000" cy="18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8" name="Patch Thumb 6">
            <a:extLst>
              <a:ext uri="{FF2B5EF4-FFF2-40B4-BE49-F238E27FC236}">
                <a16:creationId xmlns:a16="http://schemas.microsoft.com/office/drawing/2014/main" id="{EA2E8FC5-9E7F-6D45-5962-8128A1A8E6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67" t="66667"/>
          <a:stretch>
            <a:fillRect/>
          </a:stretch>
        </p:blipFill>
        <p:spPr bwMode="auto">
          <a:xfrm>
            <a:off x="3104000" y="3649000"/>
            <a:ext cx="220000" cy="18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9" name="Patch Thumb 7">
            <a:extLst>
              <a:ext uri="{FF2B5EF4-FFF2-40B4-BE49-F238E27FC236}">
                <a16:creationId xmlns:a16="http://schemas.microsoft.com/office/drawing/2014/main" id="{EA2E8FC5-9E7F-6D45-5962-8128A1A8E6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67" t="33333" b="33333"/>
          <a:stretch>
            <a:fillRect/>
          </a:stretch>
        </p:blipFill>
        <p:spPr bwMode="auto">
          <a:xfrm>
            <a:off x="3104000" y="3858000"/>
            <a:ext cx="220000" cy="181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40" name="MiniArr R 1"/>
          <p:cNvCxnSpPr>
            <a:cxnSpLocks/>
          </p:cNvCxnSpPr>
          <p:nvPr/>
        </p:nvCxnSpPr>
        <p:spPr>
          <a:xfrm>
            <a:off x="3351500" y="2681000"/>
            <a:ext cx="154000" cy="0"/>
          </a:xfrm>
          <a:prstGeom prst="straightConnector1">
            <a:avLst/>
          </a:prstGeom>
          <a:ln w="11430">
            <a:solidFill>
              <a:srgbClr val="000000"/>
            </a:solidFill>
            <a:tailEnd type="triangle" w="med" len="med"/>
          </a:ln>
        </p:spPr>
      </p:cxnSp>
      <p:sp>
        <p:nvSpPr>
          <p:cNvPr id="641" name="Red Token 1"/>
          <p:cNvSpPr/>
          <p:nvPr/>
        </p:nvSpPr>
        <p:spPr>
          <a:xfrm>
            <a:off x="3527500" y="2593000"/>
            <a:ext cx="313500" cy="176000"/>
          </a:xfrm>
          <a:prstGeom prst="roundRect">
            <a:avLst>
              <a:gd name="adj" fmla="val 18000"/>
            </a:avLst>
          </a:prstGeom>
          <a:solidFill>
            <a:srgbClr val="FDECE6"/>
          </a:solidFill>
          <a:ln w="11430">
            <a:solidFill>
              <a:srgbClr val="A8473B"/>
            </a:solidFill>
          </a:ln>
        </p:spPr>
        <p:txBody>
          <a:bodyPr wrap="square" lIns="45720" tIns="22860" rIns="45720" bIns="22860" rtlCol="0" anchor="ctr"/>
          <a:lstStyle/>
          <a:p>
            <a:endParaRPr lang="en-US" sz="1100" dirty="0"/>
          </a:p>
        </p:txBody>
      </p:sp>
      <p:cxnSp>
        <p:nvCxnSpPr>
          <p:cNvPr id="642" name="MiniArr R 2"/>
          <p:cNvCxnSpPr>
            <a:cxnSpLocks/>
          </p:cNvCxnSpPr>
          <p:nvPr/>
        </p:nvCxnSpPr>
        <p:spPr>
          <a:xfrm>
            <a:off x="3351500" y="2901000"/>
            <a:ext cx="154000" cy="0"/>
          </a:xfrm>
          <a:prstGeom prst="straightConnector1">
            <a:avLst/>
          </a:prstGeom>
          <a:ln w="11430">
            <a:solidFill>
              <a:srgbClr val="000000"/>
            </a:solidFill>
            <a:tailEnd type="triangle" w="med" len="med"/>
          </a:ln>
        </p:spPr>
      </p:cxnSp>
      <p:sp>
        <p:nvSpPr>
          <p:cNvPr id="643" name="Red Token 2"/>
          <p:cNvSpPr/>
          <p:nvPr/>
        </p:nvSpPr>
        <p:spPr>
          <a:xfrm>
            <a:off x="3527500" y="2813000"/>
            <a:ext cx="313500" cy="176000"/>
          </a:xfrm>
          <a:prstGeom prst="roundRect">
            <a:avLst>
              <a:gd name="adj" fmla="val 18000"/>
            </a:avLst>
          </a:prstGeom>
          <a:solidFill>
            <a:srgbClr val="FDECE6"/>
          </a:solidFill>
          <a:ln w="11430">
            <a:solidFill>
              <a:srgbClr val="A8473B"/>
            </a:solidFill>
          </a:ln>
        </p:spPr>
        <p:txBody>
          <a:bodyPr wrap="square" lIns="45720" tIns="22860" rIns="45720" bIns="22860" rtlCol="0" anchor="ctr"/>
          <a:lstStyle/>
          <a:p>
            <a:endParaRPr lang="en-US" sz="1100" dirty="0"/>
          </a:p>
        </p:txBody>
      </p:sp>
      <p:cxnSp>
        <p:nvCxnSpPr>
          <p:cNvPr id="644" name="MiniArr R 3"/>
          <p:cNvCxnSpPr>
            <a:cxnSpLocks/>
          </p:cNvCxnSpPr>
          <p:nvPr/>
        </p:nvCxnSpPr>
        <p:spPr>
          <a:xfrm>
            <a:off x="3351500" y="3132000"/>
            <a:ext cx="154000" cy="0"/>
          </a:xfrm>
          <a:prstGeom prst="straightConnector1">
            <a:avLst/>
          </a:prstGeom>
          <a:ln w="11430">
            <a:solidFill>
              <a:srgbClr val="000000"/>
            </a:solidFill>
            <a:tailEnd type="triangle" w="med" len="med"/>
          </a:ln>
        </p:spPr>
      </p:cxnSp>
      <p:sp>
        <p:nvSpPr>
          <p:cNvPr id="645" name="Red Token 3"/>
          <p:cNvSpPr/>
          <p:nvPr/>
        </p:nvSpPr>
        <p:spPr>
          <a:xfrm>
            <a:off x="3527500" y="3044000"/>
            <a:ext cx="313500" cy="176000"/>
          </a:xfrm>
          <a:prstGeom prst="roundRect">
            <a:avLst>
              <a:gd name="adj" fmla="val 18000"/>
            </a:avLst>
          </a:prstGeom>
          <a:solidFill>
            <a:srgbClr val="FDECE6"/>
          </a:solidFill>
          <a:ln w="11430">
            <a:solidFill>
              <a:srgbClr val="A8473B"/>
            </a:solidFill>
          </a:ln>
        </p:spPr>
        <p:txBody>
          <a:bodyPr wrap="square" lIns="45720" tIns="22860" rIns="45720" bIns="22860" rtlCol="0" anchor="ctr"/>
          <a:lstStyle/>
          <a:p>
            <a:endParaRPr lang="en-US" sz="1100" dirty="0"/>
          </a:p>
        </p:txBody>
      </p:sp>
      <p:cxnSp>
        <p:nvCxnSpPr>
          <p:cNvPr id="646" name="MiniArr R 4"/>
          <p:cNvCxnSpPr>
            <a:cxnSpLocks/>
          </p:cNvCxnSpPr>
          <p:nvPr/>
        </p:nvCxnSpPr>
        <p:spPr>
          <a:xfrm>
            <a:off x="3351500" y="3357500"/>
            <a:ext cx="154000" cy="0"/>
          </a:xfrm>
          <a:prstGeom prst="straightConnector1">
            <a:avLst/>
          </a:prstGeom>
          <a:ln w="11430">
            <a:solidFill>
              <a:srgbClr val="000000"/>
            </a:solidFill>
            <a:tailEnd type="triangle" w="med" len="med"/>
          </a:ln>
        </p:spPr>
      </p:cxnSp>
      <p:sp>
        <p:nvSpPr>
          <p:cNvPr id="647" name="Red Token 4"/>
          <p:cNvSpPr/>
          <p:nvPr/>
        </p:nvSpPr>
        <p:spPr>
          <a:xfrm>
            <a:off x="3527500" y="3269500"/>
            <a:ext cx="313500" cy="176000"/>
          </a:xfrm>
          <a:prstGeom prst="roundRect">
            <a:avLst>
              <a:gd name="adj" fmla="val 18000"/>
            </a:avLst>
          </a:prstGeom>
          <a:solidFill>
            <a:srgbClr val="FDECE6"/>
          </a:solidFill>
          <a:ln w="11430">
            <a:solidFill>
              <a:srgbClr val="A8473B"/>
            </a:solidFill>
          </a:ln>
        </p:spPr>
        <p:txBody>
          <a:bodyPr wrap="square" lIns="45720" tIns="22860" rIns="45720" bIns="22860" rtlCol="0" anchor="ctr"/>
          <a:lstStyle/>
          <a:p>
            <a:endParaRPr lang="en-US" sz="1100" dirty="0"/>
          </a:p>
        </p:txBody>
      </p:sp>
      <p:cxnSp>
        <p:nvCxnSpPr>
          <p:cNvPr id="648" name="MiniArr R 5"/>
          <p:cNvCxnSpPr>
            <a:cxnSpLocks/>
          </p:cNvCxnSpPr>
          <p:nvPr/>
        </p:nvCxnSpPr>
        <p:spPr>
          <a:xfrm>
            <a:off x="3351500" y="3781000"/>
            <a:ext cx="154000" cy="0"/>
          </a:xfrm>
          <a:prstGeom prst="straightConnector1">
            <a:avLst/>
          </a:prstGeom>
          <a:ln w="11430">
            <a:solidFill>
              <a:srgbClr val="000000"/>
            </a:solidFill>
            <a:tailEnd type="triangle" w="med" len="med"/>
          </a:ln>
        </p:spPr>
      </p:cxnSp>
      <p:sp>
        <p:nvSpPr>
          <p:cNvPr id="649" name="Red Token 5"/>
          <p:cNvSpPr/>
          <p:nvPr/>
        </p:nvSpPr>
        <p:spPr>
          <a:xfrm>
            <a:off x="3527500" y="3693000"/>
            <a:ext cx="313500" cy="176000"/>
          </a:xfrm>
          <a:prstGeom prst="roundRect">
            <a:avLst>
              <a:gd name="adj" fmla="val 18000"/>
            </a:avLst>
          </a:prstGeom>
          <a:solidFill>
            <a:srgbClr val="FDECE6"/>
          </a:solidFill>
          <a:ln w="11430">
            <a:solidFill>
              <a:srgbClr val="A8473B"/>
            </a:solidFill>
          </a:ln>
        </p:spPr>
        <p:txBody>
          <a:bodyPr wrap="square" lIns="45720" tIns="22860" rIns="45720" bIns="22860" rtlCol="0" anchor="ctr"/>
          <a:lstStyle/>
          <a:p>
            <a:endParaRPr lang="en-US" sz="1100" dirty="0"/>
          </a:p>
        </p:txBody>
      </p:sp>
      <p:cxnSp>
        <p:nvCxnSpPr>
          <p:cNvPr id="650" name="MiniArr R 6"/>
          <p:cNvCxnSpPr>
            <a:cxnSpLocks/>
          </p:cNvCxnSpPr>
          <p:nvPr/>
        </p:nvCxnSpPr>
        <p:spPr>
          <a:xfrm>
            <a:off x="3351500" y="3990000"/>
            <a:ext cx="154000" cy="0"/>
          </a:xfrm>
          <a:prstGeom prst="straightConnector1">
            <a:avLst/>
          </a:prstGeom>
          <a:ln w="11430">
            <a:solidFill>
              <a:srgbClr val="000000"/>
            </a:solidFill>
            <a:tailEnd type="triangle" w="med" len="med"/>
          </a:ln>
        </p:spPr>
      </p:cxnSp>
      <p:sp>
        <p:nvSpPr>
          <p:cNvPr id="651" name="Red Token 6"/>
          <p:cNvSpPr/>
          <p:nvPr/>
        </p:nvSpPr>
        <p:spPr>
          <a:xfrm>
            <a:off x="3527500" y="3902000"/>
            <a:ext cx="313500" cy="176000"/>
          </a:xfrm>
          <a:prstGeom prst="roundRect">
            <a:avLst>
              <a:gd name="adj" fmla="val 18000"/>
            </a:avLst>
          </a:prstGeom>
          <a:solidFill>
            <a:srgbClr val="FDECE6"/>
          </a:solidFill>
          <a:ln w="11430">
            <a:solidFill>
              <a:srgbClr val="A8473B"/>
            </a:solidFill>
          </a:ln>
        </p:spPr>
        <p:txBody>
          <a:bodyPr wrap="square" lIns="45720" tIns="22860" rIns="45720" bIns="22860" rtlCol="0" anchor="ctr"/>
          <a:lstStyle/>
          <a:p>
            <a:endParaRPr lang="en-US" sz="1100" dirty="0"/>
          </a:p>
        </p:txBody>
      </p:sp>
      <p:sp>
        <p:nvSpPr>
          <p:cNvPr id="652" name="Ellipsis Red"/>
          <p:cNvSpPr txBox="1"/>
          <p:nvPr/>
        </p:nvSpPr>
        <p:spPr>
          <a:xfrm>
            <a:off x="3527500" y="3451000"/>
            <a:ext cx="313500" cy="23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⋮</a:t>
            </a:r>
          </a:p>
        </p:txBody>
      </p:sp>
      <p:cxnSp>
        <p:nvCxnSpPr>
          <p:cNvPr id="653" name="Arrow Red to LP"/>
          <p:cNvCxnSpPr>
            <a:cxnSpLocks/>
          </p:cNvCxnSpPr>
          <p:nvPr/>
        </p:nvCxnSpPr>
        <p:spPr>
          <a:xfrm>
            <a:off x="3857500" y="3209000"/>
            <a:ext cx="170500" cy="0"/>
          </a:xfrm>
          <a:prstGeom prst="straightConnector1">
            <a:avLst/>
          </a:prstGeom>
          <a:ln w="14000">
            <a:solidFill>
              <a:srgbClr val="000000"/>
            </a:solidFill>
            <a:tailEnd type="triangle" w="med" len="med"/>
          </a:ln>
        </p:spPr>
      </p:cxnSp>
      <p:sp>
        <p:nvSpPr>
          <p:cNvPr id="654" name="Linear Projection Box"/>
          <p:cNvSpPr/>
          <p:nvPr/>
        </p:nvSpPr>
        <p:spPr>
          <a:xfrm>
            <a:off x="4044500" y="2593000"/>
            <a:ext cx="649000" cy="1490500"/>
          </a:xfrm>
          <a:prstGeom prst="roundRect">
            <a:avLst>
              <a:gd name="adj" fmla="val 12000"/>
            </a:avLst>
          </a:prstGeom>
          <a:solidFill>
            <a:srgbClr val="D3EBFA"/>
          </a:solidFill>
          <a:ln w="12700">
            <a:solidFill>
              <a:srgbClr val="3B689B"/>
            </a:solidFill>
          </a:ln>
        </p:spPr>
        <p:txBody>
          <a:bodyPr wrap="square" lIns="11000" tIns="22860" rIns="11000" bIns="22860" rtlCol="0" anchor="ctr"/>
          <a:lstStyle/>
          <a:p>
            <a:pPr algn="ctr"/>
            <a:r>
              <a:rPr lang="en-US" sz="1000" dirty="0">
                <a:solidFill>
                  <a:srgbClr val="000000"/>
                </a:solidFill>
                <a:latin typeface="Times New Roman"/>
                <a:cs typeface="Times New Roman"/>
              </a:rPr>
              <a:t>Linear</a:t>
            </a:r>
          </a:p>
          <a:p>
            <a:pPr algn="ctr"/>
            <a:r>
              <a:rPr lang="en-US" sz="1000" dirty="0">
                <a:solidFill>
                  <a:srgbClr val="000000"/>
                </a:solidFill>
                <a:latin typeface="Times New Roman"/>
                <a:cs typeface="Times New Roman"/>
              </a:rPr>
              <a:t>Projection</a:t>
            </a:r>
          </a:p>
        </p:txBody>
      </p:sp>
      <p:cxnSp>
        <p:nvCxnSpPr>
          <p:cNvPr id="655" name="MiniArr B 1"/>
          <p:cNvCxnSpPr>
            <a:cxnSpLocks/>
          </p:cNvCxnSpPr>
          <p:nvPr/>
        </p:nvCxnSpPr>
        <p:spPr>
          <a:xfrm>
            <a:off x="4715500" y="2703000"/>
            <a:ext cx="148500" cy="0"/>
          </a:xfrm>
          <a:prstGeom prst="straightConnector1">
            <a:avLst/>
          </a:prstGeom>
          <a:ln w="11430">
            <a:solidFill>
              <a:srgbClr val="000000"/>
            </a:solidFill>
            <a:tailEnd type="triangle" w="med" len="med"/>
          </a:ln>
        </p:spPr>
      </p:cxnSp>
      <p:sp>
        <p:nvSpPr>
          <p:cNvPr id="656" name="Blue Token 1"/>
          <p:cNvSpPr/>
          <p:nvPr/>
        </p:nvSpPr>
        <p:spPr>
          <a:xfrm>
            <a:off x="4880500" y="2609500"/>
            <a:ext cx="407000" cy="181500"/>
          </a:xfrm>
          <a:prstGeom prst="roundRect">
            <a:avLst>
              <a:gd name="adj" fmla="val 18000"/>
            </a:avLst>
          </a:prstGeom>
          <a:solidFill>
            <a:srgbClr val="D2EBFB"/>
          </a:solidFill>
          <a:ln w="11430">
            <a:solidFill>
              <a:srgbClr val="5B9BD5"/>
            </a:solidFill>
          </a:ln>
        </p:spPr>
        <p:txBody>
          <a:bodyPr wrap="square" lIns="45720" tIns="22860" rIns="45720" bIns="22860" rtlCol="0" anchor="ctr"/>
          <a:lstStyle/>
          <a:p>
            <a:endParaRPr lang="en-US" sz="1100" dirty="0"/>
          </a:p>
        </p:txBody>
      </p:sp>
      <p:cxnSp>
        <p:nvCxnSpPr>
          <p:cNvPr id="657" name="MiniArr B 2"/>
          <p:cNvCxnSpPr>
            <a:cxnSpLocks/>
          </p:cNvCxnSpPr>
          <p:nvPr/>
        </p:nvCxnSpPr>
        <p:spPr>
          <a:xfrm>
            <a:off x="4715500" y="2912000"/>
            <a:ext cx="148500" cy="0"/>
          </a:xfrm>
          <a:prstGeom prst="straightConnector1">
            <a:avLst/>
          </a:prstGeom>
          <a:ln w="11430">
            <a:solidFill>
              <a:srgbClr val="000000"/>
            </a:solidFill>
            <a:tailEnd type="triangle" w="med" len="med"/>
          </a:ln>
        </p:spPr>
      </p:cxnSp>
      <p:sp>
        <p:nvSpPr>
          <p:cNvPr id="658" name="Blue Token 2"/>
          <p:cNvSpPr/>
          <p:nvPr/>
        </p:nvSpPr>
        <p:spPr>
          <a:xfrm>
            <a:off x="4880500" y="2818500"/>
            <a:ext cx="407000" cy="181500"/>
          </a:xfrm>
          <a:prstGeom prst="roundRect">
            <a:avLst>
              <a:gd name="adj" fmla="val 18000"/>
            </a:avLst>
          </a:prstGeom>
          <a:solidFill>
            <a:srgbClr val="D2EBFB"/>
          </a:solidFill>
          <a:ln w="11430">
            <a:solidFill>
              <a:srgbClr val="5B9BD5"/>
            </a:solidFill>
          </a:ln>
        </p:spPr>
        <p:txBody>
          <a:bodyPr wrap="square" lIns="45720" tIns="22860" rIns="45720" bIns="22860" rtlCol="0" anchor="ctr"/>
          <a:lstStyle/>
          <a:p>
            <a:endParaRPr lang="en-US" sz="1100" dirty="0"/>
          </a:p>
        </p:txBody>
      </p:sp>
      <p:cxnSp>
        <p:nvCxnSpPr>
          <p:cNvPr id="659" name="MiniArr B 3"/>
          <p:cNvCxnSpPr>
            <a:cxnSpLocks/>
          </p:cNvCxnSpPr>
          <p:nvPr/>
        </p:nvCxnSpPr>
        <p:spPr>
          <a:xfrm>
            <a:off x="4715500" y="3126500"/>
            <a:ext cx="148500" cy="0"/>
          </a:xfrm>
          <a:prstGeom prst="straightConnector1">
            <a:avLst/>
          </a:prstGeom>
          <a:ln w="11430">
            <a:solidFill>
              <a:srgbClr val="000000"/>
            </a:solidFill>
            <a:tailEnd type="triangle" w="med" len="med"/>
          </a:ln>
        </p:spPr>
      </p:cxnSp>
      <p:sp>
        <p:nvSpPr>
          <p:cNvPr id="660" name="Blue Token 3"/>
          <p:cNvSpPr/>
          <p:nvPr/>
        </p:nvSpPr>
        <p:spPr>
          <a:xfrm>
            <a:off x="4880500" y="3033000"/>
            <a:ext cx="407000" cy="181500"/>
          </a:xfrm>
          <a:prstGeom prst="roundRect">
            <a:avLst>
              <a:gd name="adj" fmla="val 18000"/>
            </a:avLst>
          </a:prstGeom>
          <a:solidFill>
            <a:srgbClr val="D2EBFB"/>
          </a:solidFill>
          <a:ln w="11430">
            <a:solidFill>
              <a:srgbClr val="5B9BD5"/>
            </a:solidFill>
          </a:ln>
        </p:spPr>
        <p:txBody>
          <a:bodyPr wrap="square" lIns="45720" tIns="22860" rIns="45720" bIns="22860" rtlCol="0" anchor="ctr"/>
          <a:lstStyle/>
          <a:p>
            <a:endParaRPr lang="en-US" sz="1100" dirty="0"/>
          </a:p>
        </p:txBody>
      </p:sp>
      <p:cxnSp>
        <p:nvCxnSpPr>
          <p:cNvPr id="661" name="MiniArr B 4"/>
          <p:cNvCxnSpPr>
            <a:cxnSpLocks/>
          </p:cNvCxnSpPr>
          <p:nvPr/>
        </p:nvCxnSpPr>
        <p:spPr>
          <a:xfrm>
            <a:off x="4715500" y="3346500"/>
            <a:ext cx="148500" cy="0"/>
          </a:xfrm>
          <a:prstGeom prst="straightConnector1">
            <a:avLst/>
          </a:prstGeom>
          <a:ln w="11430">
            <a:solidFill>
              <a:srgbClr val="000000"/>
            </a:solidFill>
            <a:tailEnd type="triangle" w="med" len="med"/>
          </a:ln>
        </p:spPr>
      </p:cxnSp>
      <p:sp>
        <p:nvSpPr>
          <p:cNvPr id="662" name="Blue Token 4"/>
          <p:cNvSpPr/>
          <p:nvPr/>
        </p:nvSpPr>
        <p:spPr>
          <a:xfrm>
            <a:off x="4880500" y="3253000"/>
            <a:ext cx="407000" cy="181500"/>
          </a:xfrm>
          <a:prstGeom prst="roundRect">
            <a:avLst>
              <a:gd name="adj" fmla="val 18000"/>
            </a:avLst>
          </a:prstGeom>
          <a:solidFill>
            <a:srgbClr val="D2EBFB"/>
          </a:solidFill>
          <a:ln w="11430">
            <a:solidFill>
              <a:srgbClr val="5B9BD5"/>
            </a:solidFill>
          </a:ln>
        </p:spPr>
        <p:txBody>
          <a:bodyPr wrap="square" lIns="45720" tIns="22860" rIns="45720" bIns="22860" rtlCol="0" anchor="ctr"/>
          <a:lstStyle/>
          <a:p>
            <a:endParaRPr lang="en-US" sz="1100" dirty="0"/>
          </a:p>
        </p:txBody>
      </p:sp>
      <p:cxnSp>
        <p:nvCxnSpPr>
          <p:cNvPr id="663" name="MiniArr B 5"/>
          <p:cNvCxnSpPr>
            <a:cxnSpLocks/>
          </p:cNvCxnSpPr>
          <p:nvPr/>
        </p:nvCxnSpPr>
        <p:spPr>
          <a:xfrm>
            <a:off x="4715500" y="3775500"/>
            <a:ext cx="148500" cy="0"/>
          </a:xfrm>
          <a:prstGeom prst="straightConnector1">
            <a:avLst/>
          </a:prstGeom>
          <a:ln w="11430">
            <a:solidFill>
              <a:srgbClr val="000000"/>
            </a:solidFill>
            <a:tailEnd type="triangle" w="med" len="med"/>
          </a:ln>
        </p:spPr>
      </p:cxnSp>
      <p:sp>
        <p:nvSpPr>
          <p:cNvPr id="664" name="Blue Token 5"/>
          <p:cNvSpPr/>
          <p:nvPr/>
        </p:nvSpPr>
        <p:spPr>
          <a:xfrm>
            <a:off x="4880500" y="3682000"/>
            <a:ext cx="407000" cy="181500"/>
          </a:xfrm>
          <a:prstGeom prst="roundRect">
            <a:avLst>
              <a:gd name="adj" fmla="val 18000"/>
            </a:avLst>
          </a:prstGeom>
          <a:solidFill>
            <a:srgbClr val="D2EBFB"/>
          </a:solidFill>
          <a:ln w="11430">
            <a:solidFill>
              <a:srgbClr val="5B9BD5"/>
            </a:solidFill>
          </a:ln>
        </p:spPr>
        <p:txBody>
          <a:bodyPr wrap="square" lIns="45720" tIns="22860" rIns="45720" bIns="22860" rtlCol="0" anchor="ctr"/>
          <a:lstStyle/>
          <a:p>
            <a:endParaRPr lang="en-US" sz="1100" dirty="0"/>
          </a:p>
        </p:txBody>
      </p:sp>
      <p:cxnSp>
        <p:nvCxnSpPr>
          <p:cNvPr id="665" name="MiniArr B 6"/>
          <p:cNvCxnSpPr>
            <a:cxnSpLocks/>
          </p:cNvCxnSpPr>
          <p:nvPr/>
        </p:nvCxnSpPr>
        <p:spPr>
          <a:xfrm>
            <a:off x="4715500" y="3984500"/>
            <a:ext cx="148500" cy="0"/>
          </a:xfrm>
          <a:prstGeom prst="straightConnector1">
            <a:avLst/>
          </a:prstGeom>
          <a:ln w="11430">
            <a:solidFill>
              <a:srgbClr val="000000"/>
            </a:solidFill>
            <a:tailEnd type="triangle" w="med" len="med"/>
          </a:ln>
        </p:spPr>
      </p:cxnSp>
      <p:sp>
        <p:nvSpPr>
          <p:cNvPr id="666" name="Blue Token 6"/>
          <p:cNvSpPr/>
          <p:nvPr/>
        </p:nvSpPr>
        <p:spPr>
          <a:xfrm>
            <a:off x="4880500" y="3891000"/>
            <a:ext cx="407000" cy="181500"/>
          </a:xfrm>
          <a:prstGeom prst="roundRect">
            <a:avLst>
              <a:gd name="adj" fmla="val 18000"/>
            </a:avLst>
          </a:prstGeom>
          <a:solidFill>
            <a:srgbClr val="D2EBFB"/>
          </a:solidFill>
          <a:ln w="11430">
            <a:solidFill>
              <a:srgbClr val="5B9BD5"/>
            </a:solidFill>
          </a:ln>
        </p:spPr>
        <p:txBody>
          <a:bodyPr wrap="square" lIns="45720" tIns="22860" rIns="45720" bIns="22860" rtlCol="0" anchor="ctr"/>
          <a:lstStyle/>
          <a:p>
            <a:endParaRPr lang="en-US" sz="1100" dirty="0"/>
          </a:p>
        </p:txBody>
      </p:sp>
      <p:sp>
        <p:nvSpPr>
          <p:cNvPr id="667" name="Ellipsis Blue"/>
          <p:cNvSpPr txBox="1"/>
          <p:nvPr/>
        </p:nvSpPr>
        <p:spPr>
          <a:xfrm>
            <a:off x="4880500" y="3445500"/>
            <a:ext cx="407000" cy="23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⋮</a:t>
            </a:r>
          </a:p>
        </p:txBody>
      </p:sp>
      <p:cxnSp>
        <p:nvCxnSpPr>
          <p:cNvPr id="668" name="Arrow Blue to CLS"/>
          <p:cNvCxnSpPr>
            <a:cxnSpLocks/>
          </p:cNvCxnSpPr>
          <p:nvPr/>
        </p:nvCxnSpPr>
        <p:spPr>
          <a:xfrm>
            <a:off x="5309500" y="3209000"/>
            <a:ext cx="269500" cy="0"/>
          </a:xfrm>
          <a:prstGeom prst="straightConnector1">
            <a:avLst/>
          </a:prstGeom>
          <a:ln w="14000">
            <a:solidFill>
              <a:srgbClr val="000000"/>
            </a:solidFill>
            <a:tailEnd type="triangle" w="med" len="med"/>
          </a:ln>
        </p:spPr>
      </p:cxnSp>
      <p:sp>
        <p:nvSpPr>
          <p:cNvPr id="669" name="CLS Token Box"/>
          <p:cNvSpPr/>
          <p:nvPr/>
        </p:nvSpPr>
        <p:spPr>
          <a:xfrm>
            <a:off x="5617500" y="2609500"/>
            <a:ext cx="313500" cy="192500"/>
          </a:xfrm>
          <a:prstGeom prst="roundRect">
            <a:avLst>
              <a:gd name="adj" fmla="val 18000"/>
            </a:avLst>
          </a:prstGeom>
          <a:solidFill>
            <a:srgbClr val="FDD0D3"/>
          </a:solidFill>
          <a:ln w="12700">
            <a:solidFill>
              <a:srgbClr val="AE2B3F"/>
            </a:solidFill>
          </a:ln>
        </p:spPr>
        <p:txBody>
          <a:bodyPr wrap="square" lIns="45720" tIns="22860" rIns="45720" bIns="22860" rtlCol="0" anchor="ctr"/>
          <a:lstStyle/>
          <a:p>
            <a:endParaRPr lang="en-US" sz="1100" dirty="0"/>
          </a:p>
        </p:txBody>
      </p:sp>
      <p:sp>
        <p:nvSpPr>
          <p:cNvPr id="670" name="CLS Label"/>
          <p:cNvSpPr txBox="1"/>
          <p:nvPr/>
        </p:nvSpPr>
        <p:spPr>
          <a:xfrm>
            <a:off x="5942000" y="2609500"/>
            <a:ext cx="357500" cy="192500"/>
          </a:xfrm>
          <a:prstGeom prst="rect">
            <a:avLst/>
          </a:prstGeom>
          <a:noFill/>
          <a:ln>
            <a:noFill/>
          </a:ln>
        </p:spPr>
        <p:txBody>
          <a:bodyPr wrap="square" lIns="22000" tIns="0" rIns="0" bIns="0" rtlCol="0" anchor="ctr"/>
          <a:lstStyle/>
          <a:p>
            <a:pPr algn="l"/>
            <a:r>
              <a:rPr lang="en-US" sz="1050" dirty="0">
                <a:solidFill>
                  <a:srgbClr val="000000"/>
                </a:solidFill>
                <a:latin typeface="Times New Roman"/>
                <a:cs typeface="Times New Roman"/>
              </a:rPr>
              <a:t>[CLS]</a:t>
            </a:r>
          </a:p>
        </p:txBody>
      </p:sp>
      <p:sp>
        <p:nvSpPr>
          <p:cNvPr id="671" name="Seq Token 1"/>
          <p:cNvSpPr/>
          <p:nvPr/>
        </p:nvSpPr>
        <p:spPr>
          <a:xfrm>
            <a:off x="5617500" y="2829500"/>
            <a:ext cx="313500" cy="187000"/>
          </a:xfrm>
          <a:prstGeom prst="roundRect">
            <a:avLst>
              <a:gd name="adj" fmla="val 18000"/>
            </a:avLst>
          </a:prstGeom>
          <a:solidFill>
            <a:srgbClr val="D2EBFB"/>
          </a:solidFill>
          <a:ln w="11430">
            <a:solidFill>
              <a:srgbClr val="5B9BD5"/>
            </a:solidFill>
          </a:ln>
        </p:spPr>
        <p:txBody>
          <a:bodyPr wrap="square" lIns="45720" tIns="22860" rIns="45720" bIns="22860" rtlCol="0" anchor="ctr"/>
          <a:lstStyle/>
          <a:p>
            <a:endParaRPr lang="en-US" sz="1100" dirty="0"/>
          </a:p>
        </p:txBody>
      </p:sp>
      <p:sp>
        <p:nvSpPr>
          <p:cNvPr id="672" name="Seq Token 2"/>
          <p:cNvSpPr/>
          <p:nvPr/>
        </p:nvSpPr>
        <p:spPr>
          <a:xfrm>
            <a:off x="5617500" y="3044000"/>
            <a:ext cx="313500" cy="187000"/>
          </a:xfrm>
          <a:prstGeom prst="roundRect">
            <a:avLst>
              <a:gd name="adj" fmla="val 18000"/>
            </a:avLst>
          </a:prstGeom>
          <a:solidFill>
            <a:srgbClr val="D2EBFB"/>
          </a:solidFill>
          <a:ln w="11430">
            <a:solidFill>
              <a:srgbClr val="5B9BD5"/>
            </a:solidFill>
          </a:ln>
        </p:spPr>
        <p:txBody>
          <a:bodyPr wrap="square" lIns="45720" tIns="22860" rIns="45720" bIns="22860" rtlCol="0" anchor="ctr"/>
          <a:lstStyle/>
          <a:p>
            <a:endParaRPr lang="en-US" sz="1100" dirty="0"/>
          </a:p>
        </p:txBody>
      </p:sp>
      <p:sp>
        <p:nvSpPr>
          <p:cNvPr id="673" name="Seq Token 3"/>
          <p:cNvSpPr/>
          <p:nvPr/>
        </p:nvSpPr>
        <p:spPr>
          <a:xfrm>
            <a:off x="5617500" y="3258500"/>
            <a:ext cx="313500" cy="187000"/>
          </a:xfrm>
          <a:prstGeom prst="roundRect">
            <a:avLst>
              <a:gd name="adj" fmla="val 18000"/>
            </a:avLst>
          </a:prstGeom>
          <a:solidFill>
            <a:srgbClr val="D2EBFB"/>
          </a:solidFill>
          <a:ln w="11430">
            <a:solidFill>
              <a:srgbClr val="5B9BD5"/>
            </a:solidFill>
          </a:ln>
        </p:spPr>
        <p:txBody>
          <a:bodyPr wrap="square" lIns="45720" tIns="22860" rIns="45720" bIns="22860" rtlCol="0" anchor="ctr"/>
          <a:lstStyle/>
          <a:p>
            <a:endParaRPr lang="en-US" sz="1100" dirty="0"/>
          </a:p>
        </p:txBody>
      </p:sp>
      <p:sp>
        <p:nvSpPr>
          <p:cNvPr id="674" name="Seq Token 4"/>
          <p:cNvSpPr/>
          <p:nvPr/>
        </p:nvSpPr>
        <p:spPr>
          <a:xfrm>
            <a:off x="5617500" y="3759000"/>
            <a:ext cx="313500" cy="187000"/>
          </a:xfrm>
          <a:prstGeom prst="roundRect">
            <a:avLst>
              <a:gd name="adj" fmla="val 18000"/>
            </a:avLst>
          </a:prstGeom>
          <a:solidFill>
            <a:srgbClr val="D2EBFB"/>
          </a:solidFill>
          <a:ln w="11430">
            <a:solidFill>
              <a:srgbClr val="5B9BD5"/>
            </a:solidFill>
          </a:ln>
        </p:spPr>
        <p:txBody>
          <a:bodyPr wrap="square" lIns="45720" tIns="22860" rIns="45720" bIns="22860" rtlCol="0" anchor="ctr"/>
          <a:lstStyle/>
          <a:p>
            <a:endParaRPr lang="en-US" sz="1100" dirty="0"/>
          </a:p>
        </p:txBody>
      </p:sp>
      <p:sp>
        <p:nvSpPr>
          <p:cNvPr id="675" name="Seq Token 5"/>
          <p:cNvSpPr/>
          <p:nvPr/>
        </p:nvSpPr>
        <p:spPr>
          <a:xfrm>
            <a:off x="5617500" y="3957000"/>
            <a:ext cx="313500" cy="187000"/>
          </a:xfrm>
          <a:prstGeom prst="roundRect">
            <a:avLst>
              <a:gd name="adj" fmla="val 18000"/>
            </a:avLst>
          </a:prstGeom>
          <a:solidFill>
            <a:srgbClr val="D2EBFB"/>
          </a:solidFill>
          <a:ln w="11430">
            <a:solidFill>
              <a:srgbClr val="5B9BD5"/>
            </a:solidFill>
          </a:ln>
        </p:spPr>
        <p:txBody>
          <a:bodyPr wrap="square" lIns="45720" tIns="22860" rIns="45720" bIns="22860" rtlCol="0" anchor="ctr"/>
          <a:lstStyle/>
          <a:p>
            <a:endParaRPr lang="en-US" sz="1100" dirty="0"/>
          </a:p>
        </p:txBody>
      </p:sp>
      <p:sp>
        <p:nvSpPr>
          <p:cNvPr id="676" name="Ellipsis Seq"/>
          <p:cNvSpPr txBox="1"/>
          <p:nvPr/>
        </p:nvSpPr>
        <p:spPr>
          <a:xfrm>
            <a:off x="5617500" y="3467500"/>
            <a:ext cx="313500" cy="26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⋮</a:t>
            </a:r>
          </a:p>
        </p:txBody>
      </p:sp>
      <p:cxnSp>
        <p:nvCxnSpPr>
          <p:cNvPr id="677" name="Seq to Plus"/>
          <p:cNvCxnSpPr>
            <a:cxnSpLocks/>
          </p:cNvCxnSpPr>
          <p:nvPr/>
        </p:nvCxnSpPr>
        <p:spPr>
          <a:xfrm>
            <a:off x="5942000" y="3302500"/>
            <a:ext cx="225500" cy="0"/>
          </a:xfrm>
          <a:prstGeom prst="straightConnector1">
            <a:avLst/>
          </a:prstGeom>
          <a:ln w="12700">
            <a:solidFill>
              <a:srgbClr val="000000"/>
            </a:solidFill>
          </a:ln>
        </p:spPr>
      </p:cxnSp>
      <p:sp>
        <p:nvSpPr>
          <p:cNvPr id="678" name="Pos Add Circle"/>
          <p:cNvSpPr/>
          <p:nvPr/>
        </p:nvSpPr>
        <p:spPr>
          <a:xfrm>
            <a:off x="6167500" y="3187000"/>
            <a:ext cx="231000" cy="231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72C5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rgbClr val="000000"/>
                </a:solidFill>
                <a:latin typeface="Arial"/>
                <a:cs typeface="Arial"/>
              </a:rPr>
              <a:t>+</a:t>
            </a:r>
          </a:p>
        </p:txBody>
      </p:sp>
      <p:sp>
        <p:nvSpPr>
          <p:cNvPr id="679" name="Positional Embeddings Box"/>
          <p:cNvSpPr/>
          <p:nvPr/>
        </p:nvSpPr>
        <p:spPr>
          <a:xfrm>
            <a:off x="5991500" y="3687500"/>
            <a:ext cx="621500" cy="396000"/>
          </a:xfrm>
          <a:prstGeom prst="roundRect">
            <a:avLst>
              <a:gd name="adj" fmla="val 15000"/>
            </a:avLst>
          </a:prstGeom>
          <a:solidFill>
            <a:srgbClr val="FFF4D4"/>
          </a:solidFill>
          <a:ln w="12700">
            <a:solidFill>
              <a:srgbClr val="EAB448"/>
            </a:solidFill>
          </a:ln>
        </p:spPr>
        <p:txBody>
          <a:bodyPr wrap="square" lIns="11000" tIns="11000" rIns="11000" bIns="11000" rtlCol="0" anchor="ctr"/>
          <a:lstStyle/>
          <a:p>
            <a:pPr algn="ctr"/>
            <a:r>
              <a:rPr lang="en-US" sz="850" dirty="0">
                <a:solidFill>
                  <a:srgbClr val="000000"/>
                </a:solidFill>
                <a:latin typeface="Times New Roman"/>
                <a:cs typeface="Times New Roman"/>
              </a:rPr>
              <a:t>Positional</a:t>
            </a:r>
          </a:p>
          <a:p>
            <a:pPr algn="ctr"/>
            <a:r>
              <a:rPr lang="en-US" sz="850" dirty="0">
                <a:solidFill>
                  <a:srgbClr val="000000"/>
                </a:solidFill>
                <a:latin typeface="Times New Roman"/>
                <a:cs typeface="Times New Roman"/>
              </a:rPr>
              <a:t>Embeddings</a:t>
            </a:r>
          </a:p>
        </p:txBody>
      </p:sp>
      <p:cxnSp>
        <p:nvCxnSpPr>
          <p:cNvPr id="680" name="Arrow Pos to Plus"/>
          <p:cNvCxnSpPr>
            <a:cxnSpLocks/>
          </p:cNvCxnSpPr>
          <p:nvPr/>
        </p:nvCxnSpPr>
        <p:spPr>
          <a:xfrm flipV="1">
            <a:off x="6283000" y="3423500"/>
            <a:ext cx="0" cy="264000"/>
          </a:xfrm>
          <a:prstGeom prst="straightConnector1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681" name="Arrow Plus to Spine"/>
          <p:cNvCxnSpPr>
            <a:cxnSpLocks/>
          </p:cNvCxnSpPr>
          <p:nvPr/>
        </p:nvCxnSpPr>
        <p:spPr>
          <a:xfrm>
            <a:off x="6398500" y="3302500"/>
            <a:ext cx="280500" cy="0"/>
          </a:xfrm>
          <a:prstGeom prst="straightConnector1">
            <a:avLst/>
          </a:prstGeom>
          <a:ln w="14000">
            <a:solidFill>
              <a:srgbClr val="000000"/>
            </a:solidFill>
            <a:tailEnd type="triangle" w="med" len="med"/>
          </a:ln>
        </p:spPr>
      </p:cxnSp>
      <p:cxnSp>
        <p:nvCxnSpPr>
          <p:cNvPr id="682" name="Branch Spine V"/>
          <p:cNvCxnSpPr>
            <a:cxnSpLocks/>
          </p:cNvCxnSpPr>
          <p:nvPr/>
        </p:nvCxnSpPr>
        <p:spPr>
          <a:xfrm>
            <a:off x="6761500" y="2752500"/>
            <a:ext cx="0" cy="1144000"/>
          </a:xfrm>
          <a:prstGeom prst="straightConnector1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683" name="Branch to ViT-Face"/>
          <p:cNvCxnSpPr>
            <a:cxnSpLocks/>
          </p:cNvCxnSpPr>
          <p:nvPr/>
        </p:nvCxnSpPr>
        <p:spPr>
          <a:xfrm>
            <a:off x="6761500" y="2752500"/>
            <a:ext cx="187000" cy="0"/>
          </a:xfrm>
          <a:prstGeom prst="straightConnector1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684" name="ViT-Face"/>
          <p:cNvSpPr/>
          <p:nvPr/>
        </p:nvSpPr>
        <p:spPr>
          <a:xfrm>
            <a:off x="6954000" y="2527000"/>
            <a:ext cx="1034000" cy="467500"/>
          </a:xfrm>
          <a:prstGeom prst="roundRect">
            <a:avLst>
              <a:gd name="adj" fmla="val 18000"/>
            </a:avLst>
          </a:prstGeom>
          <a:solidFill>
            <a:srgbClr val="C2E2F8"/>
          </a:solidFill>
          <a:ln w="12700">
            <a:solidFill>
              <a:srgbClr val="3A6B9C"/>
            </a:solidFill>
          </a:ln>
        </p:spPr>
        <p:txBody>
          <a:bodyPr wrap="square" lIns="45720" tIns="22860" rIns="45720" bIns="22860" rtlCol="0" anchor="ctr"/>
          <a:lstStyle/>
          <a:p>
            <a:pPr algn="ctr"/>
            <a:r>
              <a:rPr lang="en-US" sz="1150" b="1" dirty="0">
                <a:solidFill>
                  <a:srgbClr val="000000"/>
                </a:solidFill>
                <a:latin typeface="Times New Roman"/>
                <a:cs typeface="Times New Roman"/>
              </a:rPr>
              <a:t>ViT-Face</a:t>
            </a:r>
          </a:p>
          <a:p>
            <a:pPr algn="ctr"/>
            <a:r>
              <a:rPr lang="en-US" sz="1050" dirty="0">
                <a:solidFill>
                  <a:srgbClr val="111111"/>
                </a:solidFill>
                <a:latin typeface="Times New Roman"/>
                <a:cs typeface="Times New Roman"/>
              </a:rPr>
              <a:t>(Frozen)</a:t>
            </a:r>
          </a:p>
        </p:txBody>
      </p:sp>
      <p:sp>
        <p:nvSpPr>
          <p:cNvPr id="685" name="Padlock Shackle"/>
          <p:cNvSpPr/>
          <p:nvPr/>
        </p:nvSpPr>
        <p:spPr>
          <a:xfrm>
            <a:off x="7834000" y="2494000"/>
            <a:ext cx="66000" cy="7700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1B2A38"/>
            </a:solidFill>
          </a:ln>
        </p:spPr>
        <p:txBody>
          <a:bodyPr wrap="square" lIns="45720" tIns="22860" rIns="45720" bIns="22860" rtlCol="0" anchor="ctr"/>
          <a:lstStyle/>
          <a:p>
            <a:endParaRPr lang="en-US" sz="1100" dirty="0"/>
          </a:p>
        </p:txBody>
      </p:sp>
      <p:sp>
        <p:nvSpPr>
          <p:cNvPr id="686" name="Padlock Body"/>
          <p:cNvSpPr/>
          <p:nvPr/>
        </p:nvSpPr>
        <p:spPr>
          <a:xfrm>
            <a:off x="7812000" y="2543500"/>
            <a:ext cx="110000" cy="88000"/>
          </a:xfrm>
          <a:prstGeom prst="roundRect">
            <a:avLst>
              <a:gd name="adj" fmla="val 20000"/>
            </a:avLst>
          </a:prstGeom>
          <a:solidFill>
            <a:srgbClr val="1B2A38"/>
          </a:solidFill>
          <a:ln w="6350">
            <a:solidFill>
              <a:srgbClr val="1B2A38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700" b="1" dirty="0">
                <a:solidFill>
                  <a:srgbClr val="FFFFFF"/>
                </a:solidFill>
                <a:latin typeface="Times New Roman"/>
                <a:cs typeface="Times New Roman"/>
              </a:rPr>
              <a:t>•</a:t>
            </a:r>
          </a:p>
        </p:txBody>
      </p:sp>
      <p:cxnSp>
        <p:nvCxnSpPr>
          <p:cNvPr id="687" name="Arrow ViT-Face to Bar"/>
          <p:cNvCxnSpPr>
            <a:cxnSpLocks/>
          </p:cNvCxnSpPr>
          <p:nvPr/>
        </p:nvCxnSpPr>
        <p:spPr>
          <a:xfrm>
            <a:off x="7988000" y="2752500"/>
            <a:ext cx="181500" cy="0"/>
          </a:xfrm>
          <a:prstGeom prst="straightConnector1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688" name="Bar ViT-Face"/>
          <p:cNvSpPr/>
          <p:nvPr/>
        </p:nvSpPr>
        <p:spPr>
          <a:xfrm>
            <a:off x="8175000" y="2675500"/>
            <a:ext cx="753500" cy="154000"/>
          </a:xfrm>
          <a:prstGeom prst="roundRect">
            <a:avLst>
              <a:gd name="adj" fmla="val 18000"/>
            </a:avLst>
          </a:prstGeom>
          <a:solidFill>
            <a:srgbClr val="64A1DA"/>
          </a:solidFill>
          <a:ln w="11430">
            <a:solidFill>
              <a:srgbClr val="254E77"/>
            </a:solidFill>
          </a:ln>
        </p:spPr>
        <p:txBody>
          <a:bodyPr wrap="square" lIns="45720" tIns="22860" rIns="45720" bIns="22860" rtlCol="0" anchor="ctr"/>
          <a:lstStyle/>
          <a:p>
            <a:endParaRPr lang="en-US" sz="1100" dirty="0"/>
          </a:p>
        </p:txBody>
      </p:sp>
      <p:sp>
        <p:nvSpPr>
          <p:cNvPr id="689" name="Formula ViT-Face"/>
          <p:cNvSpPr txBox="1"/>
          <p:nvPr/>
        </p:nvSpPr>
        <p:spPr>
          <a:xfrm>
            <a:off x="8125500" y="2840500"/>
            <a:ext cx="852500" cy="18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000000"/>
                </a:solidFill>
                <a:latin typeface="Times New Roman"/>
                <a:cs typeface="Times New Roman"/>
              </a:rPr>
              <a:t>f</a:t>
            </a:r>
            <a:r>
              <a:rPr lang="en-US" sz="950" baseline="-25000" dirty="0">
                <a:solidFill>
                  <a:srgbClr val="000000"/>
                </a:solidFill>
                <a:latin typeface="Times New Roman"/>
                <a:cs typeface="Times New Roman"/>
              </a:rPr>
              <a:t>face</a:t>
            </a:r>
            <a:r>
              <a:rPr lang="en-US" sz="1100" dirty="0">
                <a:solidFill>
                  <a:srgbClr val="000000"/>
                </a:solidFill>
                <a:latin typeface="Times New Roman"/>
                <a:cs typeface="Times New Roman"/>
              </a:rPr>
              <a:t> ∈ ℝ</a:t>
            </a:r>
            <a:r>
              <a:rPr lang="en-US" sz="950" baseline="30000" dirty="0">
                <a:solidFill>
                  <a:srgbClr val="000000"/>
                </a:solidFill>
                <a:latin typeface="Times New Roman"/>
                <a:cs typeface="Times New Roman"/>
              </a:rPr>
              <a:t>768</a:t>
            </a:r>
          </a:p>
        </p:txBody>
      </p:sp>
      <p:cxnSp>
        <p:nvCxnSpPr>
          <p:cNvPr id="690" name="Branch to ViT-Emotion"/>
          <p:cNvCxnSpPr>
            <a:cxnSpLocks/>
          </p:cNvCxnSpPr>
          <p:nvPr/>
        </p:nvCxnSpPr>
        <p:spPr>
          <a:xfrm>
            <a:off x="6761500" y="3313500"/>
            <a:ext cx="187000" cy="0"/>
          </a:xfrm>
          <a:prstGeom prst="straightConnector1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691" name="ViT-Emotion"/>
          <p:cNvSpPr/>
          <p:nvPr/>
        </p:nvSpPr>
        <p:spPr>
          <a:xfrm>
            <a:off x="6954000" y="3099000"/>
            <a:ext cx="1034000" cy="467500"/>
          </a:xfrm>
          <a:prstGeom prst="roundRect">
            <a:avLst>
              <a:gd name="adj" fmla="val 18000"/>
            </a:avLst>
          </a:prstGeom>
          <a:solidFill>
            <a:srgbClr val="FCB7A5"/>
          </a:solidFill>
          <a:ln w="12700">
            <a:solidFill>
              <a:srgbClr val="A64B3B"/>
            </a:solidFill>
          </a:ln>
        </p:spPr>
        <p:txBody>
          <a:bodyPr wrap="square" lIns="45720" tIns="22860" rIns="45720" bIns="22860" rtlCol="0" anchor="ctr"/>
          <a:lstStyle/>
          <a:p>
            <a:pPr algn="ctr"/>
            <a:r>
              <a:rPr lang="en-US" sz="1150" b="1" dirty="0">
                <a:solidFill>
                  <a:srgbClr val="000000"/>
                </a:solidFill>
                <a:latin typeface="Times New Roman"/>
                <a:cs typeface="Times New Roman"/>
              </a:rPr>
              <a:t>ViT-Emotion</a:t>
            </a:r>
          </a:p>
          <a:p>
            <a:pPr algn="ctr"/>
            <a:r>
              <a:rPr lang="en-US" sz="1050" dirty="0">
                <a:solidFill>
                  <a:srgbClr val="111111"/>
                </a:solidFill>
                <a:latin typeface="Times New Roman"/>
                <a:cs typeface="Times New Roman"/>
              </a:rPr>
              <a:t>(Frozen)</a:t>
            </a:r>
          </a:p>
        </p:txBody>
      </p:sp>
      <p:sp>
        <p:nvSpPr>
          <p:cNvPr id="692" name="Padlock Shackle"/>
          <p:cNvSpPr/>
          <p:nvPr/>
        </p:nvSpPr>
        <p:spPr>
          <a:xfrm>
            <a:off x="7834000" y="3066000"/>
            <a:ext cx="66000" cy="7700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3B1712"/>
            </a:solidFill>
          </a:ln>
        </p:spPr>
        <p:txBody>
          <a:bodyPr wrap="square" lIns="45720" tIns="22860" rIns="45720" bIns="22860" rtlCol="0" anchor="ctr"/>
          <a:lstStyle/>
          <a:p>
            <a:endParaRPr lang="en-US" sz="1100" dirty="0"/>
          </a:p>
        </p:txBody>
      </p:sp>
      <p:sp>
        <p:nvSpPr>
          <p:cNvPr id="693" name="Padlock Body"/>
          <p:cNvSpPr/>
          <p:nvPr/>
        </p:nvSpPr>
        <p:spPr>
          <a:xfrm>
            <a:off x="7812000" y="3115500"/>
            <a:ext cx="110000" cy="88000"/>
          </a:xfrm>
          <a:prstGeom prst="roundRect">
            <a:avLst>
              <a:gd name="adj" fmla="val 20000"/>
            </a:avLst>
          </a:prstGeom>
          <a:solidFill>
            <a:srgbClr val="3B1712"/>
          </a:solidFill>
          <a:ln w="6350">
            <a:solidFill>
              <a:srgbClr val="3B1712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700" b="1" dirty="0">
                <a:solidFill>
                  <a:srgbClr val="FFFFFF"/>
                </a:solidFill>
                <a:latin typeface="Times New Roman"/>
                <a:cs typeface="Times New Roman"/>
              </a:rPr>
              <a:t>•</a:t>
            </a:r>
          </a:p>
        </p:txBody>
      </p:sp>
      <p:cxnSp>
        <p:nvCxnSpPr>
          <p:cNvPr id="694" name="Arrow ViT-Emotion to Bar"/>
          <p:cNvCxnSpPr>
            <a:cxnSpLocks/>
          </p:cNvCxnSpPr>
          <p:nvPr/>
        </p:nvCxnSpPr>
        <p:spPr>
          <a:xfrm>
            <a:off x="7988000" y="3313500"/>
            <a:ext cx="181500" cy="0"/>
          </a:xfrm>
          <a:prstGeom prst="straightConnector1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695" name="Bar ViT-Emotion"/>
          <p:cNvSpPr/>
          <p:nvPr/>
        </p:nvSpPr>
        <p:spPr>
          <a:xfrm>
            <a:off x="8175000" y="3236500"/>
            <a:ext cx="753500" cy="154000"/>
          </a:xfrm>
          <a:prstGeom prst="roundRect">
            <a:avLst>
              <a:gd name="adj" fmla="val 18000"/>
            </a:avLst>
          </a:prstGeom>
          <a:solidFill>
            <a:srgbClr val="FD9580"/>
          </a:solidFill>
          <a:ln w="11430">
            <a:solidFill>
              <a:srgbClr val="8E3B2B"/>
            </a:solidFill>
          </a:ln>
        </p:spPr>
        <p:txBody>
          <a:bodyPr wrap="square" lIns="45720" tIns="22860" rIns="45720" bIns="22860" rtlCol="0" anchor="ctr"/>
          <a:lstStyle/>
          <a:p>
            <a:endParaRPr lang="en-US" sz="1100" dirty="0"/>
          </a:p>
        </p:txBody>
      </p:sp>
      <p:sp>
        <p:nvSpPr>
          <p:cNvPr id="696" name="Formula ViT-Emotion"/>
          <p:cNvSpPr txBox="1"/>
          <p:nvPr/>
        </p:nvSpPr>
        <p:spPr>
          <a:xfrm>
            <a:off x="8125500" y="3401500"/>
            <a:ext cx="852500" cy="18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000000"/>
                </a:solidFill>
                <a:latin typeface="Times New Roman"/>
                <a:cs typeface="Times New Roman"/>
              </a:rPr>
              <a:t>f</a:t>
            </a:r>
            <a:r>
              <a:rPr lang="en-US" sz="950" baseline="-25000" dirty="0">
                <a:solidFill>
                  <a:srgbClr val="000000"/>
                </a:solidFill>
                <a:latin typeface="Times New Roman"/>
                <a:cs typeface="Times New Roman"/>
              </a:rPr>
              <a:t>emotion</a:t>
            </a:r>
            <a:r>
              <a:rPr lang="en-US" sz="1100" dirty="0">
                <a:solidFill>
                  <a:srgbClr val="000000"/>
                </a:solidFill>
                <a:latin typeface="Times New Roman"/>
                <a:cs typeface="Times New Roman"/>
              </a:rPr>
              <a:t> ∈ ℝ</a:t>
            </a:r>
            <a:r>
              <a:rPr lang="en-US" sz="950" baseline="30000" dirty="0">
                <a:solidFill>
                  <a:srgbClr val="000000"/>
                </a:solidFill>
                <a:latin typeface="Times New Roman"/>
                <a:cs typeface="Times New Roman"/>
              </a:rPr>
              <a:t>768</a:t>
            </a:r>
          </a:p>
        </p:txBody>
      </p:sp>
      <p:cxnSp>
        <p:nvCxnSpPr>
          <p:cNvPr id="697" name="Branch to ViT-Age"/>
          <p:cNvCxnSpPr>
            <a:cxnSpLocks/>
          </p:cNvCxnSpPr>
          <p:nvPr/>
        </p:nvCxnSpPr>
        <p:spPr>
          <a:xfrm>
            <a:off x="6761500" y="3896500"/>
            <a:ext cx="187000" cy="0"/>
          </a:xfrm>
          <a:prstGeom prst="straightConnector1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698" name="ViT-Age"/>
          <p:cNvSpPr/>
          <p:nvPr/>
        </p:nvSpPr>
        <p:spPr>
          <a:xfrm>
            <a:off x="6954000" y="3676500"/>
            <a:ext cx="1034000" cy="484000"/>
          </a:xfrm>
          <a:prstGeom prst="roundRect">
            <a:avLst>
              <a:gd name="adj" fmla="val 18000"/>
            </a:avLst>
          </a:prstGeom>
          <a:solidFill>
            <a:srgbClr val="CAE6C4"/>
          </a:solidFill>
          <a:ln w="12700">
            <a:solidFill>
              <a:srgbClr val="4D7C46"/>
            </a:solidFill>
          </a:ln>
        </p:spPr>
        <p:txBody>
          <a:bodyPr wrap="square" lIns="45720" tIns="22860" rIns="45720" bIns="22860" rtlCol="0" anchor="ctr"/>
          <a:lstStyle/>
          <a:p>
            <a:pPr algn="ctr"/>
            <a:r>
              <a:rPr lang="en-US" sz="1150" b="1" dirty="0">
                <a:solidFill>
                  <a:srgbClr val="000000"/>
                </a:solidFill>
                <a:latin typeface="Times New Roman"/>
                <a:cs typeface="Times New Roman"/>
              </a:rPr>
              <a:t>ViT-Age</a:t>
            </a:r>
          </a:p>
          <a:p>
            <a:pPr algn="ctr"/>
            <a:r>
              <a:rPr lang="en-US" sz="1050" dirty="0">
                <a:solidFill>
                  <a:srgbClr val="111111"/>
                </a:solidFill>
                <a:latin typeface="Times New Roman"/>
                <a:cs typeface="Times New Roman"/>
              </a:rPr>
              <a:t>(Frozen)</a:t>
            </a:r>
          </a:p>
        </p:txBody>
      </p:sp>
      <p:sp>
        <p:nvSpPr>
          <p:cNvPr id="699" name="Padlock Shackle"/>
          <p:cNvSpPr/>
          <p:nvPr/>
        </p:nvSpPr>
        <p:spPr>
          <a:xfrm>
            <a:off x="7834000" y="3643500"/>
            <a:ext cx="66000" cy="7700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192E16"/>
            </a:solidFill>
          </a:ln>
        </p:spPr>
        <p:txBody>
          <a:bodyPr wrap="square" lIns="45720" tIns="22860" rIns="45720" bIns="22860" rtlCol="0" anchor="ctr"/>
          <a:lstStyle/>
          <a:p>
            <a:endParaRPr lang="en-US" sz="1100" dirty="0"/>
          </a:p>
        </p:txBody>
      </p:sp>
      <p:sp>
        <p:nvSpPr>
          <p:cNvPr id="700" name="Padlock Body"/>
          <p:cNvSpPr/>
          <p:nvPr/>
        </p:nvSpPr>
        <p:spPr>
          <a:xfrm>
            <a:off x="7812000" y="3693000"/>
            <a:ext cx="110000" cy="88000"/>
          </a:xfrm>
          <a:prstGeom prst="roundRect">
            <a:avLst>
              <a:gd name="adj" fmla="val 20000"/>
            </a:avLst>
          </a:prstGeom>
          <a:solidFill>
            <a:srgbClr val="192E16"/>
          </a:solidFill>
          <a:ln w="6350">
            <a:solidFill>
              <a:srgbClr val="192E16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700" b="1" dirty="0">
                <a:solidFill>
                  <a:srgbClr val="FFFFFF"/>
                </a:solidFill>
                <a:latin typeface="Times New Roman"/>
                <a:cs typeface="Times New Roman"/>
              </a:rPr>
              <a:t>•</a:t>
            </a:r>
          </a:p>
        </p:txBody>
      </p:sp>
      <p:cxnSp>
        <p:nvCxnSpPr>
          <p:cNvPr id="701" name="Arrow ViT-Age to Bar"/>
          <p:cNvCxnSpPr>
            <a:cxnSpLocks/>
          </p:cNvCxnSpPr>
          <p:nvPr/>
        </p:nvCxnSpPr>
        <p:spPr>
          <a:xfrm>
            <a:off x="7988000" y="3896500"/>
            <a:ext cx="181500" cy="0"/>
          </a:xfrm>
          <a:prstGeom prst="straightConnector1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702" name="Bar ViT-Age"/>
          <p:cNvSpPr/>
          <p:nvPr/>
        </p:nvSpPr>
        <p:spPr>
          <a:xfrm>
            <a:off x="8175000" y="3819500"/>
            <a:ext cx="753500" cy="154000"/>
          </a:xfrm>
          <a:prstGeom prst="roundRect">
            <a:avLst>
              <a:gd name="adj" fmla="val 18000"/>
            </a:avLst>
          </a:prstGeom>
          <a:solidFill>
            <a:srgbClr val="9DCD8D"/>
          </a:solidFill>
          <a:ln w="11430">
            <a:solidFill>
              <a:srgbClr val="3E6B36"/>
            </a:solidFill>
          </a:ln>
        </p:spPr>
        <p:txBody>
          <a:bodyPr wrap="square" lIns="45720" tIns="22860" rIns="45720" bIns="22860" rtlCol="0" anchor="ctr"/>
          <a:lstStyle/>
          <a:p>
            <a:endParaRPr lang="en-US" sz="1100" dirty="0"/>
          </a:p>
        </p:txBody>
      </p:sp>
      <p:sp>
        <p:nvSpPr>
          <p:cNvPr id="703" name="Formula ViT-Age"/>
          <p:cNvSpPr txBox="1"/>
          <p:nvPr/>
        </p:nvSpPr>
        <p:spPr>
          <a:xfrm>
            <a:off x="8125500" y="3984500"/>
            <a:ext cx="852500" cy="18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000000"/>
                </a:solidFill>
                <a:latin typeface="Times New Roman"/>
                <a:cs typeface="Times New Roman"/>
              </a:rPr>
              <a:t>f</a:t>
            </a:r>
            <a:r>
              <a:rPr lang="en-US" sz="950" baseline="-25000" dirty="0">
                <a:solidFill>
                  <a:srgbClr val="000000"/>
                </a:solidFill>
                <a:latin typeface="Times New Roman"/>
                <a:cs typeface="Times New Roman"/>
              </a:rPr>
              <a:t>age</a:t>
            </a:r>
            <a:r>
              <a:rPr lang="en-US" sz="1100" dirty="0">
                <a:solidFill>
                  <a:srgbClr val="000000"/>
                </a:solidFill>
                <a:latin typeface="Times New Roman"/>
                <a:cs typeface="Times New Roman"/>
              </a:rPr>
              <a:t> ∈ ℝ</a:t>
            </a:r>
            <a:r>
              <a:rPr lang="en-US" sz="950" baseline="30000" dirty="0">
                <a:solidFill>
                  <a:srgbClr val="000000"/>
                </a:solidFill>
                <a:latin typeface="Times New Roman"/>
                <a:cs typeface="Times New Roman"/>
              </a:rPr>
              <a:t>768</a:t>
            </a:r>
          </a:p>
        </p:txBody>
      </p:sp>
      <p:cxnSp>
        <p:nvCxnSpPr>
          <p:cNvPr id="704" name="Top Bar to Plus H"/>
          <p:cNvCxnSpPr>
            <a:cxnSpLocks/>
          </p:cNvCxnSpPr>
          <p:nvPr/>
        </p:nvCxnSpPr>
        <p:spPr>
          <a:xfrm>
            <a:off x="8928500" y="2752500"/>
            <a:ext cx="280500" cy="0"/>
          </a:xfrm>
          <a:prstGeom prst="straightConnector1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705" name="Top Bar to Plus V"/>
          <p:cNvCxnSpPr>
            <a:cxnSpLocks/>
          </p:cNvCxnSpPr>
          <p:nvPr/>
        </p:nvCxnSpPr>
        <p:spPr>
          <a:xfrm>
            <a:off x="9209000" y="2752500"/>
            <a:ext cx="0" cy="467500"/>
          </a:xfrm>
          <a:prstGeom prst="straightConnector1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706" name="Mid Bar to Plus H"/>
          <p:cNvCxnSpPr>
            <a:cxnSpLocks/>
          </p:cNvCxnSpPr>
          <p:nvPr/>
        </p:nvCxnSpPr>
        <p:spPr>
          <a:xfrm>
            <a:off x="8928500" y="3313500"/>
            <a:ext cx="187000" cy="0"/>
          </a:xfrm>
          <a:prstGeom prst="straightConnector1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707" name="Bot Bar to Plus H"/>
          <p:cNvCxnSpPr>
            <a:cxnSpLocks/>
          </p:cNvCxnSpPr>
          <p:nvPr/>
        </p:nvCxnSpPr>
        <p:spPr>
          <a:xfrm>
            <a:off x="8928500" y="3896500"/>
            <a:ext cx="280500" cy="0"/>
          </a:xfrm>
          <a:prstGeom prst="straightConnector1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708" name="Bot Bar to Plus V"/>
          <p:cNvCxnSpPr>
            <a:cxnSpLocks/>
          </p:cNvCxnSpPr>
          <p:nvPr/>
        </p:nvCxnSpPr>
        <p:spPr>
          <a:xfrm flipV="1">
            <a:off x="9209000" y="3407000"/>
            <a:ext cx="0" cy="489500"/>
          </a:xfrm>
          <a:prstGeom prst="straightConnector1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709" name="Direct Sum Circle"/>
          <p:cNvSpPr/>
          <p:nvPr/>
        </p:nvSpPr>
        <p:spPr>
          <a:xfrm>
            <a:off x="9121000" y="3225500"/>
            <a:ext cx="176000" cy="176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72C5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rgbClr val="000000"/>
                </a:solidFill>
                <a:latin typeface="Times New Roman"/>
                <a:cs typeface="Times New Roman"/>
              </a:rPr>
              <a:t>⊕</a:t>
            </a:r>
          </a:p>
        </p:txBody>
      </p:sp>
      <p:cxnSp>
        <p:nvCxnSpPr>
          <p:cNvPr id="710" name="Plus to Fused"/>
          <p:cNvCxnSpPr>
            <a:cxnSpLocks/>
          </p:cNvCxnSpPr>
          <p:nvPr/>
        </p:nvCxnSpPr>
        <p:spPr>
          <a:xfrm>
            <a:off x="9297000" y="3313500"/>
            <a:ext cx="137500" cy="0"/>
          </a:xfrm>
          <a:prstGeom prst="straightConnector1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711" name="Fused Face"/>
          <p:cNvSpPr/>
          <p:nvPr/>
        </p:nvSpPr>
        <p:spPr>
          <a:xfrm>
            <a:off x="9440000" y="2582000"/>
            <a:ext cx="214500" cy="495000"/>
          </a:xfrm>
          <a:prstGeom prst="roundRect">
            <a:avLst>
              <a:gd name="adj" fmla="val 8000"/>
            </a:avLst>
          </a:prstGeom>
          <a:solidFill>
            <a:srgbClr val="64A1DA"/>
          </a:solidFill>
          <a:ln w="11430">
            <a:solidFill>
              <a:srgbClr val="254E77"/>
            </a:solidFill>
          </a:ln>
        </p:spPr>
        <p:txBody>
          <a:bodyPr wrap="square" lIns="45720" tIns="22860" rIns="45720" bIns="22860" rtlCol="0" anchor="ctr"/>
          <a:lstStyle/>
          <a:p>
            <a:endParaRPr lang="en-US" sz="1100" dirty="0"/>
          </a:p>
        </p:txBody>
      </p:sp>
      <p:sp>
        <p:nvSpPr>
          <p:cNvPr id="712" name="Fused Emotion"/>
          <p:cNvSpPr/>
          <p:nvPr/>
        </p:nvSpPr>
        <p:spPr>
          <a:xfrm>
            <a:off x="9440000" y="3077000"/>
            <a:ext cx="214500" cy="489500"/>
          </a:xfrm>
          <a:prstGeom prst="roundRect">
            <a:avLst>
              <a:gd name="adj" fmla="val 8000"/>
            </a:avLst>
          </a:prstGeom>
          <a:solidFill>
            <a:srgbClr val="FD9580"/>
          </a:solidFill>
          <a:ln w="11430">
            <a:solidFill>
              <a:srgbClr val="8E3B2B"/>
            </a:solidFill>
          </a:ln>
        </p:spPr>
        <p:txBody>
          <a:bodyPr wrap="square" lIns="45720" tIns="22860" rIns="45720" bIns="22860" rtlCol="0" anchor="ctr"/>
          <a:lstStyle/>
          <a:p>
            <a:endParaRPr lang="en-US" sz="1100" dirty="0"/>
          </a:p>
        </p:txBody>
      </p:sp>
      <p:sp>
        <p:nvSpPr>
          <p:cNvPr id="713" name="Fused Age"/>
          <p:cNvSpPr/>
          <p:nvPr/>
        </p:nvSpPr>
        <p:spPr>
          <a:xfrm>
            <a:off x="9440000" y="3566500"/>
            <a:ext cx="214500" cy="489500"/>
          </a:xfrm>
          <a:prstGeom prst="roundRect">
            <a:avLst>
              <a:gd name="adj" fmla="val 8000"/>
            </a:avLst>
          </a:prstGeom>
          <a:solidFill>
            <a:srgbClr val="9DCD8D"/>
          </a:solidFill>
          <a:ln w="11430">
            <a:solidFill>
              <a:srgbClr val="3E6B36"/>
            </a:solidFill>
          </a:ln>
        </p:spPr>
        <p:txBody>
          <a:bodyPr wrap="square" lIns="45720" tIns="22860" rIns="45720" bIns="22860" rtlCol="0" anchor="ctr"/>
          <a:lstStyle/>
          <a:p>
            <a:endParaRPr lang="en-US" sz="1100" dirty="0"/>
          </a:p>
        </p:txBody>
      </p:sp>
      <p:sp>
        <p:nvSpPr>
          <p:cNvPr id="714" name="Fused Vector Text"/>
          <p:cNvSpPr txBox="1"/>
          <p:nvPr/>
        </p:nvSpPr>
        <p:spPr>
          <a:xfrm>
            <a:off x="8730500" y="4122000"/>
            <a:ext cx="1650000" cy="74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/>
            <a:r>
              <a:rPr lang="en-US" sz="1050" b="1" dirty="0">
                <a:solidFill>
                  <a:srgbClr val="000000"/>
                </a:solidFill>
                <a:latin typeface="Times New Roman"/>
                <a:cs typeface="Times New Roman"/>
              </a:rPr>
              <a:t>z</a:t>
            </a:r>
            <a:r>
              <a:rPr lang="en-US" sz="900" baseline="-25000" dirty="0">
                <a:solidFill>
                  <a:srgbClr val="000000"/>
                </a:solidFill>
                <a:latin typeface="Times New Roman"/>
                <a:cs typeface="Times New Roman"/>
              </a:rPr>
              <a:t>tri</a:t>
            </a:r>
            <a:r>
              <a:rPr lang="en-US" sz="1050" dirty="0">
                <a:solidFill>
                  <a:srgbClr val="000000"/>
                </a:solidFill>
                <a:latin typeface="Times New Roman"/>
                <a:cs typeface="Times New Roman"/>
              </a:rPr>
              <a:t> = </a:t>
            </a:r>
            <a:r>
              <a:rPr lang="en-US" sz="1050" b="1" dirty="0">
                <a:solidFill>
                  <a:srgbClr val="000000"/>
                </a:solidFill>
                <a:latin typeface="Times New Roman"/>
                <a:cs typeface="Times New Roman"/>
              </a:rPr>
              <a:t>f</a:t>
            </a:r>
            <a:r>
              <a:rPr lang="en-US" sz="900" baseline="-25000" dirty="0">
                <a:solidFill>
                  <a:srgbClr val="000000"/>
                </a:solidFill>
                <a:latin typeface="Times New Roman"/>
                <a:cs typeface="Times New Roman"/>
              </a:rPr>
              <a:t>face</a:t>
            </a:r>
            <a:r>
              <a:rPr lang="en-US" sz="1050" dirty="0">
                <a:solidFill>
                  <a:srgbClr val="000000"/>
                </a:solidFill>
                <a:latin typeface="Times New Roman"/>
                <a:cs typeface="Times New Roman"/>
              </a:rPr>
              <a:t> ⊕ </a:t>
            </a:r>
            <a:r>
              <a:rPr lang="en-US" sz="1050" b="1" dirty="0">
                <a:solidFill>
                  <a:srgbClr val="000000"/>
                </a:solidFill>
                <a:latin typeface="Times New Roman"/>
                <a:cs typeface="Times New Roman"/>
              </a:rPr>
              <a:t>f</a:t>
            </a:r>
            <a:r>
              <a:rPr lang="en-US" sz="900" baseline="-25000" dirty="0">
                <a:solidFill>
                  <a:srgbClr val="000000"/>
                </a:solidFill>
                <a:latin typeface="Times New Roman"/>
                <a:cs typeface="Times New Roman"/>
              </a:rPr>
              <a:t>emotion</a:t>
            </a:r>
            <a:r>
              <a:rPr lang="en-US" sz="1050" dirty="0">
                <a:solidFill>
                  <a:srgbClr val="000000"/>
                </a:solidFill>
                <a:latin typeface="Times New Roman"/>
                <a:cs typeface="Times New Roman"/>
              </a:rPr>
              <a:t> ⊕ </a:t>
            </a:r>
            <a:r>
              <a:rPr lang="en-US" sz="1050" b="1" dirty="0">
                <a:solidFill>
                  <a:srgbClr val="000000"/>
                </a:solidFill>
                <a:latin typeface="Times New Roman"/>
                <a:cs typeface="Times New Roman"/>
              </a:rPr>
              <a:t>f</a:t>
            </a:r>
            <a:r>
              <a:rPr lang="en-US" sz="900" baseline="-25000" dirty="0">
                <a:solidFill>
                  <a:srgbClr val="000000"/>
                </a:solidFill>
                <a:latin typeface="Times New Roman"/>
                <a:cs typeface="Times New Roman"/>
              </a:rPr>
              <a:t>age</a:t>
            </a:r>
          </a:p>
          <a:p>
            <a:pPr algn="ctr"/>
            <a:r>
              <a:rPr lang="en-US" sz="1050" dirty="0">
                <a:solidFill>
                  <a:srgbClr val="000000"/>
                </a:solidFill>
                <a:latin typeface="Times New Roman"/>
                <a:cs typeface="Times New Roman"/>
              </a:rPr>
              <a:t>∈ ℝ</a:t>
            </a:r>
            <a:r>
              <a:rPr lang="en-US" sz="900" baseline="30000" dirty="0">
                <a:solidFill>
                  <a:srgbClr val="000000"/>
                </a:solidFill>
                <a:latin typeface="Times New Roman"/>
                <a:cs typeface="Times New Roman"/>
              </a:rPr>
              <a:t>2304</a:t>
            </a:r>
          </a:p>
        </p:txBody>
      </p:sp>
      <p:cxnSp>
        <p:nvCxnSpPr>
          <p:cNvPr id="715" name="Fused to Classifiers"/>
          <p:cNvCxnSpPr>
            <a:cxnSpLocks/>
          </p:cNvCxnSpPr>
          <p:nvPr/>
        </p:nvCxnSpPr>
        <p:spPr>
          <a:xfrm>
            <a:off x="9660000" y="3313500"/>
            <a:ext cx="225500" cy="0"/>
          </a:xfrm>
          <a:prstGeom prst="straightConnector1">
            <a:avLst/>
          </a:prstGeom>
          <a:ln w="14000">
            <a:solidFill>
              <a:srgbClr val="000000"/>
            </a:solidFill>
            <a:tailEnd type="triangle" w="med" len="med"/>
          </a:ln>
        </p:spPr>
      </p:cxnSp>
      <p:sp>
        <p:nvSpPr>
          <p:cNvPr id="716" name="Classifiers Container"/>
          <p:cNvSpPr/>
          <p:nvPr/>
        </p:nvSpPr>
        <p:spPr>
          <a:xfrm>
            <a:off x="9891000" y="2549000"/>
            <a:ext cx="957000" cy="1496000"/>
          </a:xfrm>
          <a:prstGeom prst="roundRect">
            <a:avLst>
              <a:gd name="adj" fmla="val 10000"/>
            </a:avLst>
          </a:prstGeom>
          <a:solidFill>
            <a:srgbClr val="EDEDED"/>
          </a:solidFill>
          <a:ln w="12700">
            <a:solidFill>
              <a:srgbClr val="595959"/>
            </a:solidFill>
          </a:ln>
        </p:spPr>
        <p:txBody>
          <a:bodyPr wrap="square" lIns="0" tIns="55000" rIns="0" bIns="33000" rtlCol="0" anchor="t"/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Times New Roman"/>
                <a:cs typeface="Times New Roman"/>
              </a:rPr>
              <a:t>Classifiers</a:t>
            </a:r>
          </a:p>
          <a:p>
            <a:pPr algn="ctr"/>
            <a:r>
              <a:rPr lang="en-US" sz="650" dirty="0">
                <a:solidFill>
                  <a:srgbClr val="111111"/>
                </a:solidFill>
                <a:latin typeface="Times New Roman"/>
                <a:cs typeface="Times New Roman"/>
              </a:rPr>
              <a:t>(LR / SVM / RF / GNB)</a:t>
            </a:r>
          </a:p>
        </p:txBody>
      </p:sp>
      <p:sp>
        <p:nvSpPr>
          <p:cNvPr id="717" name="Classifier LR"/>
          <p:cNvSpPr/>
          <p:nvPr/>
        </p:nvSpPr>
        <p:spPr>
          <a:xfrm>
            <a:off x="10045000" y="2923000"/>
            <a:ext cx="649000" cy="209000"/>
          </a:xfrm>
          <a:prstGeom prst="roundRect">
            <a:avLst>
              <a:gd name="adj" fmla="val 18000"/>
            </a:avLst>
          </a:prstGeom>
          <a:solidFill>
            <a:srgbClr val="E2E2E2"/>
          </a:solidFill>
          <a:ln w="9525">
            <a:solidFill>
              <a:srgbClr val="999999"/>
            </a:solidFill>
          </a:ln>
        </p:spPr>
        <p:txBody>
          <a:bodyPr wrap="square" lIns="45720" tIns="22860" rIns="45720" bIns="22860" rtlCol="0" anchor="ctr"/>
          <a:lstStyle/>
          <a:p>
            <a:pPr algn="ctr"/>
            <a:r>
              <a:rPr lang="en-US" sz="1000" dirty="0">
                <a:solidFill>
                  <a:srgbClr val="111111"/>
                </a:solidFill>
                <a:latin typeface="Times New Roman"/>
                <a:cs typeface="Times New Roman"/>
              </a:rPr>
              <a:t>LR</a:t>
            </a:r>
          </a:p>
        </p:txBody>
      </p:sp>
      <p:sp>
        <p:nvSpPr>
          <p:cNvPr id="718" name="Classifier SVM"/>
          <p:cNvSpPr/>
          <p:nvPr/>
        </p:nvSpPr>
        <p:spPr>
          <a:xfrm>
            <a:off x="10045000" y="3187000"/>
            <a:ext cx="649000" cy="209000"/>
          </a:xfrm>
          <a:prstGeom prst="roundRect">
            <a:avLst>
              <a:gd name="adj" fmla="val 18000"/>
            </a:avLst>
          </a:prstGeom>
          <a:solidFill>
            <a:srgbClr val="E2E2E2"/>
          </a:solidFill>
          <a:ln w="9525">
            <a:solidFill>
              <a:srgbClr val="999999"/>
            </a:solidFill>
          </a:ln>
        </p:spPr>
        <p:txBody>
          <a:bodyPr wrap="square" lIns="45720" tIns="22860" rIns="45720" bIns="22860" rtlCol="0" anchor="ctr"/>
          <a:lstStyle/>
          <a:p>
            <a:pPr algn="ctr"/>
            <a:r>
              <a:rPr lang="en-US" sz="1000" dirty="0">
                <a:solidFill>
                  <a:srgbClr val="111111"/>
                </a:solidFill>
                <a:latin typeface="Times New Roman"/>
                <a:cs typeface="Times New Roman"/>
              </a:rPr>
              <a:t>SVM</a:t>
            </a:r>
          </a:p>
        </p:txBody>
      </p:sp>
      <p:sp>
        <p:nvSpPr>
          <p:cNvPr id="719" name="Classifier RF"/>
          <p:cNvSpPr/>
          <p:nvPr/>
        </p:nvSpPr>
        <p:spPr>
          <a:xfrm>
            <a:off x="10045000" y="3451000"/>
            <a:ext cx="649000" cy="209000"/>
          </a:xfrm>
          <a:prstGeom prst="roundRect">
            <a:avLst>
              <a:gd name="adj" fmla="val 18000"/>
            </a:avLst>
          </a:prstGeom>
          <a:solidFill>
            <a:srgbClr val="E2E2E2"/>
          </a:solidFill>
          <a:ln w="9525">
            <a:solidFill>
              <a:srgbClr val="999999"/>
            </a:solidFill>
          </a:ln>
        </p:spPr>
        <p:txBody>
          <a:bodyPr wrap="square" lIns="45720" tIns="22860" rIns="45720" bIns="22860" rtlCol="0" anchor="ctr"/>
          <a:lstStyle/>
          <a:p>
            <a:pPr algn="ctr"/>
            <a:r>
              <a:rPr lang="en-US" sz="1000" dirty="0">
                <a:solidFill>
                  <a:srgbClr val="111111"/>
                </a:solidFill>
                <a:latin typeface="Times New Roman"/>
                <a:cs typeface="Times New Roman"/>
              </a:rPr>
              <a:t>RF</a:t>
            </a:r>
          </a:p>
        </p:txBody>
      </p:sp>
      <p:sp>
        <p:nvSpPr>
          <p:cNvPr id="720" name="Classifier GNB"/>
          <p:cNvSpPr/>
          <p:nvPr/>
        </p:nvSpPr>
        <p:spPr>
          <a:xfrm>
            <a:off x="10045000" y="3715000"/>
            <a:ext cx="649000" cy="209000"/>
          </a:xfrm>
          <a:prstGeom prst="roundRect">
            <a:avLst>
              <a:gd name="adj" fmla="val 18000"/>
            </a:avLst>
          </a:prstGeom>
          <a:solidFill>
            <a:srgbClr val="E2E2E2"/>
          </a:solidFill>
          <a:ln w="9525">
            <a:solidFill>
              <a:srgbClr val="999999"/>
            </a:solidFill>
          </a:ln>
        </p:spPr>
        <p:txBody>
          <a:bodyPr wrap="square" lIns="45720" tIns="22860" rIns="45720" bIns="22860" rtlCol="0" anchor="ctr"/>
          <a:lstStyle/>
          <a:p>
            <a:pPr algn="ctr"/>
            <a:r>
              <a:rPr lang="en-US" sz="1000" dirty="0">
                <a:solidFill>
                  <a:srgbClr val="111111"/>
                </a:solidFill>
                <a:latin typeface="Times New Roman"/>
                <a:cs typeface="Times New Roman"/>
              </a:rPr>
              <a:t>GNB</a:t>
            </a:r>
          </a:p>
        </p:txBody>
      </p:sp>
      <p:cxnSp>
        <p:nvCxnSpPr>
          <p:cNvPr id="721" name="Classifiers to Output"/>
          <p:cNvCxnSpPr>
            <a:cxnSpLocks/>
          </p:cNvCxnSpPr>
          <p:nvPr/>
        </p:nvCxnSpPr>
        <p:spPr>
          <a:xfrm>
            <a:off x="10853500" y="3313500"/>
            <a:ext cx="187000" cy="0"/>
          </a:xfrm>
          <a:prstGeom prst="straightConnector1">
            <a:avLst/>
          </a:prstGeom>
          <a:ln w="14000">
            <a:solidFill>
              <a:srgbClr val="000000"/>
            </a:solidFill>
            <a:tailEnd type="triangle" w="med" len="med"/>
          </a:ln>
        </p:spPr>
      </p:cxnSp>
      <p:sp>
        <p:nvSpPr>
          <p:cNvPr id="722" name="6-Class Output Container"/>
          <p:cNvSpPr/>
          <p:nvPr/>
        </p:nvSpPr>
        <p:spPr>
          <a:xfrm>
            <a:off x="11046000" y="2527000"/>
            <a:ext cx="891000" cy="1672000"/>
          </a:xfrm>
          <a:prstGeom prst="roundRect">
            <a:avLst>
              <a:gd name="adj" fmla="val 8000"/>
            </a:avLst>
          </a:prstGeom>
          <a:solidFill>
            <a:srgbClr val="EFF7EB"/>
          </a:solidFill>
          <a:ln w="11430">
            <a:solidFill>
              <a:srgbClr val="C5DFB8"/>
            </a:solidFill>
          </a:ln>
        </p:spPr>
        <p:txBody>
          <a:bodyPr wrap="square" lIns="27500" tIns="55000" rIns="22000" bIns="33000" rtlCol="0" anchor="t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Times New Roman"/>
                <a:cs typeface="Times New Roman"/>
              </a:rPr>
              <a:t>6-Class</a:t>
            </a:r>
          </a:p>
          <a:p>
            <a:pPr algn="ctr"/>
            <a:r>
              <a:rPr lang="en-US" sz="900" b="1" dirty="0">
                <a:solidFill>
                  <a:srgbClr val="111111"/>
                </a:solidFill>
                <a:latin typeface="Times New Roman"/>
                <a:cs typeface="Times New Roman"/>
              </a:rPr>
              <a:t>Intersectional</a:t>
            </a:r>
          </a:p>
          <a:p>
            <a:pPr algn="ctr"/>
            <a:r>
              <a:rPr lang="en-US" sz="900" b="1" dirty="0">
                <a:solidFill>
                  <a:srgbClr val="111111"/>
                </a:solidFill>
                <a:latin typeface="Times New Roman"/>
                <a:cs typeface="Times New Roman"/>
              </a:rPr>
              <a:t>Demographic</a:t>
            </a:r>
          </a:p>
          <a:p>
            <a:pPr algn="ctr"/>
            <a:r>
              <a:rPr lang="en-US" sz="900" b="1" dirty="0">
                <a:solidFill>
                  <a:srgbClr val="111111"/>
                </a:solidFill>
                <a:latin typeface="Times New Roman"/>
                <a:cs typeface="Times New Roman"/>
              </a:rPr>
              <a:t>Recognition</a:t>
            </a:r>
          </a:p>
          <a:p>
            <a:pPr algn="l">
              <a:spcBef>
                <a:spcPts val="250"/>
              </a:spcBef>
            </a:pPr>
            <a:r>
              <a:rPr lang="en-US" sz="800" b="1" dirty="0">
                <a:solidFill>
                  <a:srgbClr val="38761D"/>
                </a:solidFill>
                <a:latin typeface="Times New Roman"/>
                <a:cs typeface="Times New Roman"/>
              </a:rPr>
              <a:t>✓ </a:t>
            </a:r>
            <a:r>
              <a:rPr lang="en-US" sz="800" dirty="0">
                <a:solidFill>
                  <a:srgbClr val="111111"/>
                </a:solidFill>
                <a:latin typeface="Times New Roman"/>
                <a:cs typeface="Times New Roman"/>
              </a:rPr>
              <a:t>Asian Females</a:t>
            </a:r>
          </a:p>
          <a:p>
            <a:pPr algn="l">
              <a:spcBef>
                <a:spcPts val="120"/>
              </a:spcBef>
            </a:pPr>
            <a:r>
              <a:rPr lang="en-US" sz="800" b="1" dirty="0">
                <a:solidFill>
                  <a:srgbClr val="38761D"/>
                </a:solidFill>
                <a:latin typeface="Times New Roman"/>
                <a:cs typeface="Times New Roman"/>
              </a:rPr>
              <a:t>✓ </a:t>
            </a:r>
            <a:r>
              <a:rPr lang="en-US" sz="800" dirty="0">
                <a:solidFill>
                  <a:srgbClr val="111111"/>
                </a:solidFill>
                <a:latin typeface="Times New Roman"/>
                <a:cs typeface="Times New Roman"/>
              </a:rPr>
              <a:t>Asian Males</a:t>
            </a:r>
          </a:p>
          <a:p>
            <a:pPr algn="l">
              <a:spcBef>
                <a:spcPts val="120"/>
              </a:spcBef>
            </a:pPr>
            <a:r>
              <a:rPr lang="en-US" sz="800" b="1" dirty="0">
                <a:solidFill>
                  <a:srgbClr val="38761D"/>
                </a:solidFill>
                <a:latin typeface="Times New Roman"/>
                <a:cs typeface="Times New Roman"/>
              </a:rPr>
              <a:t>✓ </a:t>
            </a:r>
            <a:r>
              <a:rPr lang="en-US" sz="800" dirty="0">
                <a:solidFill>
                  <a:srgbClr val="111111"/>
                </a:solidFill>
                <a:latin typeface="Times New Roman"/>
                <a:cs typeface="Times New Roman"/>
              </a:rPr>
              <a:t>Black Females</a:t>
            </a:r>
          </a:p>
          <a:p>
            <a:pPr algn="l">
              <a:spcBef>
                <a:spcPts val="120"/>
              </a:spcBef>
            </a:pPr>
            <a:r>
              <a:rPr lang="en-US" sz="800" b="1" dirty="0">
                <a:solidFill>
                  <a:srgbClr val="38761D"/>
                </a:solidFill>
                <a:latin typeface="Times New Roman"/>
                <a:cs typeface="Times New Roman"/>
              </a:rPr>
              <a:t>✓ </a:t>
            </a:r>
            <a:r>
              <a:rPr lang="en-US" sz="800" dirty="0">
                <a:solidFill>
                  <a:srgbClr val="111111"/>
                </a:solidFill>
                <a:latin typeface="Times New Roman"/>
                <a:cs typeface="Times New Roman"/>
              </a:rPr>
              <a:t>Black Males</a:t>
            </a:r>
          </a:p>
          <a:p>
            <a:pPr algn="l">
              <a:spcBef>
                <a:spcPts val="120"/>
              </a:spcBef>
            </a:pPr>
            <a:r>
              <a:rPr lang="en-US" sz="800" b="1" dirty="0">
                <a:solidFill>
                  <a:srgbClr val="38761D"/>
                </a:solidFill>
                <a:latin typeface="Times New Roman"/>
                <a:cs typeface="Times New Roman"/>
              </a:rPr>
              <a:t>✓ </a:t>
            </a:r>
            <a:r>
              <a:rPr lang="en-US" sz="800" dirty="0">
                <a:solidFill>
                  <a:srgbClr val="111111"/>
                </a:solidFill>
                <a:latin typeface="Times New Roman"/>
                <a:cs typeface="Times New Roman"/>
              </a:rPr>
              <a:t>White Females</a:t>
            </a:r>
          </a:p>
          <a:p>
            <a:pPr algn="l">
              <a:spcBef>
                <a:spcPts val="120"/>
              </a:spcBef>
            </a:pPr>
            <a:r>
              <a:rPr lang="en-US" sz="800" b="1" dirty="0">
                <a:solidFill>
                  <a:srgbClr val="38761D"/>
                </a:solidFill>
                <a:latin typeface="Times New Roman"/>
                <a:cs typeface="Times New Roman"/>
              </a:rPr>
              <a:t>✓ </a:t>
            </a:r>
            <a:r>
              <a:rPr lang="en-US" sz="800" dirty="0">
                <a:solidFill>
                  <a:srgbClr val="111111"/>
                </a:solidFill>
                <a:latin typeface="Times New Roman"/>
                <a:cs typeface="Times New Roman"/>
              </a:rPr>
              <a:t>White Males</a:t>
            </a:r>
          </a:p>
        </p:txBody>
      </p:sp>
    </p:spTree>
    <p:extLst>
      <p:ext uri="{BB962C8B-B14F-4D97-AF65-F5344CB8AC3E}">
        <p14:creationId xmlns:p14="http://schemas.microsoft.com/office/powerpoint/2010/main" val="29732872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135</Words>
  <Application>Microsoft Office PowerPoint</Application>
  <PresentationFormat>Widescreen</PresentationFormat>
  <Paragraphs>63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Michel Vania</cp:lastModifiedBy>
  <cp:revision>50</cp:revision>
  <dcterms:created xsi:type="dcterms:W3CDTF">2013-01-27T09:14:16Z</dcterms:created>
  <dcterms:modified xsi:type="dcterms:W3CDTF">2026-10-31T10:37:40Z</dcterms:modified>
  <cp:category/>
</cp:coreProperties>
</file>