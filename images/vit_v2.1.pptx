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707" y="1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tep Banner 1"/>
          <p:cNvSpPr/>
          <p:nvPr/>
        </p:nvSpPr>
        <p:spPr>
          <a:xfrm>
            <a:off x="420000" y="2010000"/>
            <a:ext cx="1424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Input image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preprocessing</a:t>
            </a:r>
          </a:p>
        </p:txBody>
      </p:sp>
      <p:sp>
        <p:nvSpPr>
          <p:cNvPr id="602" name="Badge Ring 1"/>
          <p:cNvSpPr/>
          <p:nvPr/>
        </p:nvSpPr>
        <p:spPr>
          <a:xfrm>
            <a:off x="326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03" name="Badge Circle 1"/>
          <p:cNvSpPr/>
          <p:nvPr/>
        </p:nvSpPr>
        <p:spPr>
          <a:xfrm>
            <a:off x="343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04" name="Step Banner 2"/>
          <p:cNvSpPr/>
          <p:nvPr/>
        </p:nvSpPr>
        <p:spPr>
          <a:xfrm>
            <a:off x="2147000" y="2010000"/>
            <a:ext cx="1397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Split into patches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flatten</a:t>
            </a:r>
          </a:p>
        </p:txBody>
      </p:sp>
      <p:sp>
        <p:nvSpPr>
          <p:cNvPr id="605" name="Badge Ring 2"/>
          <p:cNvSpPr/>
          <p:nvPr/>
        </p:nvSpPr>
        <p:spPr>
          <a:xfrm>
            <a:off x="2053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06" name="Badge Circle 2"/>
          <p:cNvSpPr/>
          <p:nvPr/>
        </p:nvSpPr>
        <p:spPr>
          <a:xfrm>
            <a:off x="2070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07" name="Step Banner 3"/>
          <p:cNvSpPr/>
          <p:nvPr/>
        </p:nvSpPr>
        <p:spPr>
          <a:xfrm>
            <a:off x="3797000" y="2010000"/>
            <a:ext cx="1380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Linear projection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to patch embeddings</a:t>
            </a:r>
          </a:p>
        </p:txBody>
      </p:sp>
      <p:sp>
        <p:nvSpPr>
          <p:cNvPr id="608" name="Badge Ring 3"/>
          <p:cNvSpPr/>
          <p:nvPr/>
        </p:nvSpPr>
        <p:spPr>
          <a:xfrm>
            <a:off x="3703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09" name="Badge Circle 3"/>
          <p:cNvSpPr/>
          <p:nvPr/>
        </p:nvSpPr>
        <p:spPr>
          <a:xfrm>
            <a:off x="3720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610" name="Step Banner 4"/>
          <p:cNvSpPr/>
          <p:nvPr/>
        </p:nvSpPr>
        <p:spPr>
          <a:xfrm>
            <a:off x="5392000" y="2010000"/>
            <a:ext cx="1556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Add [CLS] token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positional embeddings</a:t>
            </a:r>
          </a:p>
        </p:txBody>
      </p:sp>
      <p:sp>
        <p:nvSpPr>
          <p:cNvPr id="611" name="Badge Ring 4"/>
          <p:cNvSpPr/>
          <p:nvPr/>
        </p:nvSpPr>
        <p:spPr>
          <a:xfrm>
            <a:off x="5298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12" name="Badge Circle 4"/>
          <p:cNvSpPr/>
          <p:nvPr/>
        </p:nvSpPr>
        <p:spPr>
          <a:xfrm>
            <a:off x="5315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13" name="Step Banner 5"/>
          <p:cNvSpPr/>
          <p:nvPr/>
        </p:nvSpPr>
        <p:spPr>
          <a:xfrm>
            <a:off x="7157500" y="2010000"/>
            <a:ext cx="1556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Extract [CLS] tokens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from 3 frozen ViTs</a:t>
            </a:r>
          </a:p>
        </p:txBody>
      </p:sp>
      <p:sp>
        <p:nvSpPr>
          <p:cNvPr id="614" name="Badge Ring 5"/>
          <p:cNvSpPr/>
          <p:nvPr/>
        </p:nvSpPr>
        <p:spPr>
          <a:xfrm>
            <a:off x="70640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15" name="Badge Circle 5"/>
          <p:cNvSpPr/>
          <p:nvPr/>
        </p:nvSpPr>
        <p:spPr>
          <a:xfrm>
            <a:off x="70805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616" name="Step Banner 6"/>
          <p:cNvSpPr/>
          <p:nvPr/>
        </p:nvSpPr>
        <p:spPr>
          <a:xfrm>
            <a:off x="8945000" y="2010000"/>
            <a:ext cx="1419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Multi-domain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feature fusion (⊕)</a:t>
            </a:r>
          </a:p>
        </p:txBody>
      </p:sp>
      <p:sp>
        <p:nvSpPr>
          <p:cNvPr id="617" name="Badge Ring 6"/>
          <p:cNvSpPr/>
          <p:nvPr/>
        </p:nvSpPr>
        <p:spPr>
          <a:xfrm>
            <a:off x="8851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18" name="Badge Circle 6"/>
          <p:cNvSpPr/>
          <p:nvPr/>
        </p:nvSpPr>
        <p:spPr>
          <a:xfrm>
            <a:off x="8868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619" name="Step Banner 7"/>
          <p:cNvSpPr/>
          <p:nvPr/>
        </p:nvSpPr>
        <p:spPr>
          <a:xfrm>
            <a:off x="10584000" y="2010000"/>
            <a:ext cx="1353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rtlCol="0" anchor="ctr" lIns="154000" rIns="22000" tIns="22000" bIns="22000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Downstream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classification</a:t>
            </a:r>
          </a:p>
        </p:txBody>
      </p:sp>
      <p:sp>
        <p:nvSpPr>
          <p:cNvPr id="620" name="Badge Ring 7"/>
          <p:cNvSpPr/>
          <p:nvPr/>
        </p:nvSpPr>
        <p:spPr>
          <a:xfrm>
            <a:off x="10490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21" name="Badge Circle 7"/>
          <p:cNvSpPr/>
          <p:nvPr/>
        </p:nvSpPr>
        <p:spPr>
          <a:xfrm>
            <a:off x="10507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pic>
        <p:nvPicPr>
          <p:cNvPr id="622" name="Input Face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 bwMode="auto">
          <a:xfrm>
            <a:off x="321000" y="2593000"/>
            <a:ext cx="1232000" cy="1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Input Dim Label"/>
          <p:cNvSpPr txBox="1"/>
          <p:nvPr/>
        </p:nvSpPr>
        <p:spPr>
          <a:xfrm>
            <a:off x="321000" y="3880000"/>
            <a:ext cx="1232000" cy="341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Times New Roman"/>
                <a:cs typeface="Times New Roman"/>
              </a:rPr>
              <a:t>224 × 224 × 3</a:t>
            </a:r>
          </a:p>
          <a:p>
            <a:pPr algn="ctr"/>
            <a:r>
              <a:rPr lang="en-US" sz="1150" dirty="0">
                <a:solidFill>
                  <a:srgbClr val="000000"/>
                </a:solidFill>
                <a:latin typeface="Times New Roman"/>
                <a:cs typeface="Times New Roman"/>
              </a:rPr>
              <a:t>(RGB)</a:t>
            </a:r>
          </a:p>
        </p:txBody>
      </p:sp>
      <p:cxnSp>
        <p:nvCxnSpPr>
          <p:cNvPr id="624" name="Arrow 1 to 2"/>
          <p:cNvCxnSpPr>
            <a:cxnSpLocks/>
          </p:cNvCxnSpPr>
          <p:nvPr/>
        </p:nvCxnSpPr>
        <p:spPr>
          <a:xfrm>
            <a:off x="1569500" y="3209000"/>
            <a:ext cx="231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pic>
        <p:nvPicPr>
          <p:cNvPr id="625" name="Grid Face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 bwMode="auto">
          <a:xfrm>
            <a:off x="1828000" y="2593000"/>
            <a:ext cx="1100000" cy="12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6" name="Grid V 360"/>
          <p:cNvCxnSpPr>
            <a:cxnSpLocks/>
          </p:cNvCxnSpPr>
          <p:nvPr/>
        </p:nvCxnSpPr>
        <p:spPr>
          <a:xfrm>
            <a:off x="2103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7" name="Grid V 410"/>
          <p:cNvCxnSpPr>
            <a:cxnSpLocks/>
          </p:cNvCxnSpPr>
          <p:nvPr/>
        </p:nvCxnSpPr>
        <p:spPr>
          <a:xfrm>
            <a:off x="2378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8" name="Grid V 460"/>
          <p:cNvCxnSpPr>
            <a:cxnSpLocks/>
          </p:cNvCxnSpPr>
          <p:nvPr/>
        </p:nvCxnSpPr>
        <p:spPr>
          <a:xfrm>
            <a:off x="2653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9" name="Grid H 282"/>
          <p:cNvCxnSpPr>
            <a:cxnSpLocks/>
          </p:cNvCxnSpPr>
          <p:nvPr/>
        </p:nvCxnSpPr>
        <p:spPr>
          <a:xfrm>
            <a:off x="1828000" y="2901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0" name="Grid H 338"/>
          <p:cNvCxnSpPr>
            <a:cxnSpLocks/>
          </p:cNvCxnSpPr>
          <p:nvPr/>
        </p:nvCxnSpPr>
        <p:spPr>
          <a:xfrm>
            <a:off x="1828000" y="3209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1" name="Grid H 394"/>
          <p:cNvCxnSpPr>
            <a:cxnSpLocks/>
          </p:cNvCxnSpPr>
          <p:nvPr/>
        </p:nvCxnSpPr>
        <p:spPr>
          <a:xfrm>
            <a:off x="1828000" y="3517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2" name="Arrow Grid to Strips"/>
          <p:cNvCxnSpPr>
            <a:cxnSpLocks/>
          </p:cNvCxnSpPr>
          <p:nvPr/>
        </p:nvCxnSpPr>
        <p:spPr>
          <a:xfrm>
            <a:off x="2944500" y="3209000"/>
            <a:ext cx="143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pic>
        <p:nvPicPr>
          <p:cNvPr id="633" name="Patch Thumb 1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0" t="0" r="66667" b="66667"/>
          <a:stretch>
            <a:fillRect/>
          </a:stretch>
        </p:blipFill>
        <p:spPr bwMode="auto">
          <a:xfrm>
            <a:off x="3104000" y="2593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Patch Thumb 2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33333" t="0" r="33333" b="66667"/>
          <a:stretch>
            <a:fillRect/>
          </a:stretch>
        </p:blipFill>
        <p:spPr bwMode="auto">
          <a:xfrm>
            <a:off x="3104000" y="2791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Patch Thumb 3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33333" t="33333" r="33333" b="33333"/>
          <a:stretch>
            <a:fillRect/>
          </a:stretch>
        </p:blipFill>
        <p:spPr bwMode="auto">
          <a:xfrm>
            <a:off x="3104000" y="2989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Patch Thumb 4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33333" t="66667" r="33333" b="0"/>
          <a:stretch>
            <a:fillRect/>
          </a:stretch>
        </p:blipFill>
        <p:spPr bwMode="auto">
          <a:xfrm>
            <a:off x="3104000" y="3187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Patch Thumb 5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0" t="66667" r="66667" b="0"/>
          <a:stretch>
            <a:fillRect/>
          </a:stretch>
        </p:blipFill>
        <p:spPr bwMode="auto">
          <a:xfrm>
            <a:off x="3104000" y="3385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Patch Thumb 6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66667" t="66667" r="0" b="0"/>
          <a:stretch>
            <a:fillRect/>
          </a:stretch>
        </p:blipFill>
        <p:spPr bwMode="auto">
          <a:xfrm>
            <a:off x="3104000" y="3649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Patch Thumb 7">
            <a:extLst>
              <a:ext uri="{FF2B5EF4-FFF2-40B4-BE49-F238E27FC236}">
                <a16:creationId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rcRect l="66667" t="33333" r="0" b="33333"/>
          <a:stretch>
            <a:fillRect/>
          </a:stretch>
        </p:blipFill>
        <p:spPr bwMode="auto">
          <a:xfrm>
            <a:off x="3104000" y="3858000"/>
            <a:ext cx="220000" cy="18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0" name="MiniArr R 1"/>
          <p:cNvCxnSpPr>
            <a:cxnSpLocks/>
          </p:cNvCxnSpPr>
          <p:nvPr/>
        </p:nvCxnSpPr>
        <p:spPr>
          <a:xfrm>
            <a:off x="3351500" y="268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1" name="Red Token 1"/>
          <p:cNvSpPr/>
          <p:nvPr/>
        </p:nvSpPr>
        <p:spPr>
          <a:xfrm>
            <a:off x="3527500" y="259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42" name="MiniArr R 2"/>
          <p:cNvCxnSpPr>
            <a:cxnSpLocks/>
          </p:cNvCxnSpPr>
          <p:nvPr/>
        </p:nvCxnSpPr>
        <p:spPr>
          <a:xfrm>
            <a:off x="3351500" y="290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3" name="Red Token 2"/>
          <p:cNvSpPr/>
          <p:nvPr/>
        </p:nvSpPr>
        <p:spPr>
          <a:xfrm>
            <a:off x="3527500" y="281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44" name="MiniArr R 3"/>
          <p:cNvCxnSpPr>
            <a:cxnSpLocks/>
          </p:cNvCxnSpPr>
          <p:nvPr/>
        </p:nvCxnSpPr>
        <p:spPr>
          <a:xfrm>
            <a:off x="3351500" y="3132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5" name="Red Token 3"/>
          <p:cNvSpPr/>
          <p:nvPr/>
        </p:nvSpPr>
        <p:spPr>
          <a:xfrm>
            <a:off x="3527500" y="3044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46" name="MiniArr R 4"/>
          <p:cNvCxnSpPr>
            <a:cxnSpLocks/>
          </p:cNvCxnSpPr>
          <p:nvPr/>
        </p:nvCxnSpPr>
        <p:spPr>
          <a:xfrm>
            <a:off x="3351500" y="33575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7" name="Red Token 4"/>
          <p:cNvSpPr/>
          <p:nvPr/>
        </p:nvSpPr>
        <p:spPr>
          <a:xfrm>
            <a:off x="3527500" y="32695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48" name="MiniArr R 5"/>
          <p:cNvCxnSpPr>
            <a:cxnSpLocks/>
          </p:cNvCxnSpPr>
          <p:nvPr/>
        </p:nvCxnSpPr>
        <p:spPr>
          <a:xfrm>
            <a:off x="3351500" y="378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9" name="Red Token 5"/>
          <p:cNvSpPr/>
          <p:nvPr/>
        </p:nvSpPr>
        <p:spPr>
          <a:xfrm>
            <a:off x="3527500" y="369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50" name="MiniArr R 6"/>
          <p:cNvCxnSpPr>
            <a:cxnSpLocks/>
          </p:cNvCxnSpPr>
          <p:nvPr/>
        </p:nvCxnSpPr>
        <p:spPr>
          <a:xfrm>
            <a:off x="3351500" y="3990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1" name="Red Token 6"/>
          <p:cNvSpPr/>
          <p:nvPr/>
        </p:nvSpPr>
        <p:spPr>
          <a:xfrm>
            <a:off x="3527500" y="3902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52" name="Ellipsis Red"/>
          <p:cNvSpPr txBox="1"/>
          <p:nvPr/>
        </p:nvSpPr>
        <p:spPr>
          <a:xfrm>
            <a:off x="3527500" y="3451000"/>
            <a:ext cx="313500" cy="231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53" name="Arrow Red to LP"/>
          <p:cNvCxnSpPr>
            <a:cxnSpLocks/>
          </p:cNvCxnSpPr>
          <p:nvPr/>
        </p:nvCxnSpPr>
        <p:spPr>
          <a:xfrm>
            <a:off x="3857500" y="3209000"/>
            <a:ext cx="170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654" name="Linear Projection Box"/>
          <p:cNvSpPr/>
          <p:nvPr/>
        </p:nvSpPr>
        <p:spPr>
          <a:xfrm>
            <a:off x="4044500" y="2593000"/>
            <a:ext cx="649000" cy="1490500"/>
          </a:xfrm>
          <a:prstGeom prst="roundRect">
            <a:avLst>
              <a:gd name="adj" fmla="val 12000"/>
            </a:avLst>
          </a:prstGeom>
          <a:solidFill>
            <a:srgbClr val="D3EBFA"/>
          </a:solidFill>
          <a:ln w="12700">
            <a:solidFill>
              <a:srgbClr val="3B689B"/>
            </a:solidFill>
          </a:ln>
        </p:spPr>
        <p:txBody>
          <a:bodyPr wrap="square" rtlCol="0" anchor="ctr" lIns="11000" rIns="11000" tIns="22860" bIns="22860"/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Times New Roman"/>
                <a:cs typeface="Times New Roman"/>
              </a:rPr>
              <a:t>Linear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Times New Roman"/>
                <a:cs typeface="Times New Roman"/>
              </a:rPr>
              <a:t>Projection</a:t>
            </a:r>
          </a:p>
        </p:txBody>
      </p:sp>
      <p:cxnSp>
        <p:nvCxnSpPr>
          <p:cNvPr id="655" name="MiniArr B 1"/>
          <p:cNvCxnSpPr>
            <a:cxnSpLocks/>
          </p:cNvCxnSpPr>
          <p:nvPr/>
        </p:nvCxnSpPr>
        <p:spPr>
          <a:xfrm>
            <a:off x="4715500" y="27030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6" name="Blue Token 1"/>
          <p:cNvSpPr/>
          <p:nvPr/>
        </p:nvSpPr>
        <p:spPr>
          <a:xfrm>
            <a:off x="4880500" y="26095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57" name="MiniArr B 2"/>
          <p:cNvCxnSpPr>
            <a:cxnSpLocks/>
          </p:cNvCxnSpPr>
          <p:nvPr/>
        </p:nvCxnSpPr>
        <p:spPr>
          <a:xfrm>
            <a:off x="4715500" y="29120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8" name="Blue Token 2"/>
          <p:cNvSpPr/>
          <p:nvPr/>
        </p:nvSpPr>
        <p:spPr>
          <a:xfrm>
            <a:off x="4880500" y="28185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59" name="MiniArr B 3"/>
          <p:cNvCxnSpPr>
            <a:cxnSpLocks/>
          </p:cNvCxnSpPr>
          <p:nvPr/>
        </p:nvCxnSpPr>
        <p:spPr>
          <a:xfrm>
            <a:off x="4715500" y="3126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0" name="Blue Token 3"/>
          <p:cNvSpPr/>
          <p:nvPr/>
        </p:nvSpPr>
        <p:spPr>
          <a:xfrm>
            <a:off x="4880500" y="3033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61" name="MiniArr B 4"/>
          <p:cNvCxnSpPr>
            <a:cxnSpLocks/>
          </p:cNvCxnSpPr>
          <p:nvPr/>
        </p:nvCxnSpPr>
        <p:spPr>
          <a:xfrm>
            <a:off x="4715500" y="3346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2" name="Blue Token 4"/>
          <p:cNvSpPr/>
          <p:nvPr/>
        </p:nvSpPr>
        <p:spPr>
          <a:xfrm>
            <a:off x="4880500" y="3253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63" name="MiniArr B 5"/>
          <p:cNvCxnSpPr>
            <a:cxnSpLocks/>
          </p:cNvCxnSpPr>
          <p:nvPr/>
        </p:nvCxnSpPr>
        <p:spPr>
          <a:xfrm>
            <a:off x="4715500" y="3775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4" name="Blue Token 5"/>
          <p:cNvSpPr/>
          <p:nvPr/>
        </p:nvSpPr>
        <p:spPr>
          <a:xfrm>
            <a:off x="4880500" y="3682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cxnSp>
        <p:nvCxnSpPr>
          <p:cNvPr id="665" name="MiniArr B 6"/>
          <p:cNvCxnSpPr>
            <a:cxnSpLocks/>
          </p:cNvCxnSpPr>
          <p:nvPr/>
        </p:nvCxnSpPr>
        <p:spPr>
          <a:xfrm>
            <a:off x="4715500" y="3984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6" name="Blue Token 6"/>
          <p:cNvSpPr/>
          <p:nvPr/>
        </p:nvSpPr>
        <p:spPr>
          <a:xfrm>
            <a:off x="4880500" y="3891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67" name="Ellipsis Blue"/>
          <p:cNvSpPr txBox="1"/>
          <p:nvPr/>
        </p:nvSpPr>
        <p:spPr>
          <a:xfrm>
            <a:off x="4880500" y="3445500"/>
            <a:ext cx="407000" cy="231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68" name="Arrow Blue to CLS"/>
          <p:cNvCxnSpPr>
            <a:cxnSpLocks/>
          </p:cNvCxnSpPr>
          <p:nvPr/>
        </p:nvCxnSpPr>
        <p:spPr>
          <a:xfrm>
            <a:off x="5309500" y="3209000"/>
            <a:ext cx="269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669" name="CLS Token Box"/>
          <p:cNvSpPr/>
          <p:nvPr/>
        </p:nvSpPr>
        <p:spPr>
          <a:xfrm>
            <a:off x="5617500" y="2609500"/>
            <a:ext cx="313500" cy="192500"/>
          </a:xfrm>
          <a:prstGeom prst="roundRect">
            <a:avLst>
              <a:gd name="adj" fmla="val 18000"/>
            </a:avLst>
          </a:prstGeom>
          <a:solidFill>
            <a:srgbClr val="FDD0D3"/>
          </a:solidFill>
          <a:ln w="12700">
            <a:solidFill>
              <a:srgbClr val="AE2B3F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0" name="CLS Label"/>
          <p:cNvSpPr txBox="1"/>
          <p:nvPr/>
        </p:nvSpPr>
        <p:spPr>
          <a:xfrm>
            <a:off x="5942000" y="2609500"/>
            <a:ext cx="357500" cy="192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22000" rIns="0" tIns="0" bIns="0"/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[CLS]</a:t>
            </a:r>
          </a:p>
        </p:txBody>
      </p:sp>
      <p:sp>
        <p:nvSpPr>
          <p:cNvPr id="671" name="Seq Token 1"/>
          <p:cNvSpPr/>
          <p:nvPr/>
        </p:nvSpPr>
        <p:spPr>
          <a:xfrm>
            <a:off x="5617500" y="28295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2" name="Seq Token 2"/>
          <p:cNvSpPr/>
          <p:nvPr/>
        </p:nvSpPr>
        <p:spPr>
          <a:xfrm>
            <a:off x="5617500" y="3044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3" name="Seq Token 3"/>
          <p:cNvSpPr/>
          <p:nvPr/>
        </p:nvSpPr>
        <p:spPr>
          <a:xfrm>
            <a:off x="5617500" y="32585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4" name="Seq Token 4"/>
          <p:cNvSpPr/>
          <p:nvPr/>
        </p:nvSpPr>
        <p:spPr>
          <a:xfrm>
            <a:off x="5617500" y="3759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5" name="Seq Token 5"/>
          <p:cNvSpPr/>
          <p:nvPr/>
        </p:nvSpPr>
        <p:spPr>
          <a:xfrm>
            <a:off x="5617500" y="3957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76" name="Ellipsis Seq"/>
          <p:cNvSpPr txBox="1"/>
          <p:nvPr/>
        </p:nvSpPr>
        <p:spPr>
          <a:xfrm>
            <a:off x="5617500" y="3467500"/>
            <a:ext cx="313500" cy="264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400" dirty="0" b="1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77" name="Seq to Plus"/>
          <p:cNvCxnSpPr>
            <a:cxnSpLocks/>
          </p:cNvCxnSpPr>
          <p:nvPr/>
        </p:nvCxnSpPr>
        <p:spPr>
          <a:xfrm>
            <a:off x="5942000" y="3302500"/>
            <a:ext cx="225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678" name="Pos Add Circle"/>
          <p:cNvSpPr/>
          <p:nvPr/>
        </p:nvSpPr>
        <p:spPr>
          <a:xfrm>
            <a:off x="6167500" y="3187000"/>
            <a:ext cx="231000" cy="23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C51"/>
            </a:solidFill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300" dirty="0" b="1">
                <a:solidFill>
                  <a:srgbClr val="000000"/>
                </a:solidFill>
                <a:latin typeface="Arial"/>
                <a:cs typeface="Arial"/>
              </a:rPr>
              <a:t>+</a:t>
            </a:r>
          </a:p>
        </p:txBody>
      </p:sp>
      <p:sp>
        <p:nvSpPr>
          <p:cNvPr id="679" name="Positional Embeddings Box"/>
          <p:cNvSpPr/>
          <p:nvPr/>
        </p:nvSpPr>
        <p:spPr>
          <a:xfrm>
            <a:off x="5991500" y="3687500"/>
            <a:ext cx="621500" cy="396000"/>
          </a:xfrm>
          <a:prstGeom prst="roundRect">
            <a:avLst>
              <a:gd name="adj" fmla="val 15000"/>
            </a:avLst>
          </a:prstGeom>
          <a:solidFill>
            <a:srgbClr val="FFF4D4"/>
          </a:solidFill>
          <a:ln w="12700">
            <a:solidFill>
              <a:srgbClr val="EAB448"/>
            </a:solidFill>
          </a:ln>
        </p:spPr>
        <p:txBody>
          <a:bodyPr wrap="square" rtlCol="0" anchor="ctr" lIns="11000" rIns="11000" tIns="11000" bIns="11000"/>
          <a:lstStyle/>
          <a:p>
            <a:pPr algn="ctr"/>
            <a:r>
              <a:rPr lang="en-US" sz="850" dirty="0">
                <a:solidFill>
                  <a:srgbClr val="000000"/>
                </a:solidFill>
                <a:latin typeface="Times New Roman"/>
                <a:cs typeface="Times New Roman"/>
              </a:rPr>
              <a:t>Positional</a:t>
            </a:r>
          </a:p>
          <a:p>
            <a:pPr algn="ctr"/>
            <a:r>
              <a:rPr lang="en-US" sz="850" dirty="0">
                <a:solidFill>
                  <a:srgbClr val="000000"/>
                </a:solidFill>
                <a:latin typeface="Times New Roman"/>
                <a:cs typeface="Times New Roman"/>
              </a:rPr>
              <a:t>Embeddings</a:t>
            </a:r>
          </a:p>
        </p:txBody>
      </p:sp>
      <p:cxnSp>
        <p:nvCxnSpPr>
          <p:cNvPr id="680" name="Arrow Pos to Plus"/>
          <p:cNvCxnSpPr>
            <a:cxnSpLocks/>
          </p:cNvCxnSpPr>
          <p:nvPr/>
        </p:nvCxnSpPr>
        <p:spPr>
          <a:xfrm flipV="1">
            <a:off x="6283000" y="3423500"/>
            <a:ext cx="0" cy="2640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681" name="Arrow Plus to Spine"/>
          <p:cNvCxnSpPr>
            <a:cxnSpLocks/>
          </p:cNvCxnSpPr>
          <p:nvPr/>
        </p:nvCxnSpPr>
        <p:spPr>
          <a:xfrm>
            <a:off x="6398500" y="3302500"/>
            <a:ext cx="280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cxnSp>
        <p:nvCxnSpPr>
          <p:cNvPr id="682" name="Branch Spine V"/>
          <p:cNvCxnSpPr>
            <a:cxnSpLocks/>
          </p:cNvCxnSpPr>
          <p:nvPr/>
        </p:nvCxnSpPr>
        <p:spPr>
          <a:xfrm>
            <a:off x="6761500" y="2752500"/>
            <a:ext cx="0" cy="11440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83" name="Branch to ViT-Face"/>
          <p:cNvCxnSpPr>
            <a:cxnSpLocks/>
          </p:cNvCxnSpPr>
          <p:nvPr/>
        </p:nvCxnSpPr>
        <p:spPr>
          <a:xfrm>
            <a:off x="6761500" y="2752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84" name="ViT-Face"/>
          <p:cNvSpPr/>
          <p:nvPr/>
        </p:nvSpPr>
        <p:spPr>
          <a:xfrm>
            <a:off x="6954000" y="2527000"/>
            <a:ext cx="1034000" cy="467500"/>
          </a:xfrm>
          <a:prstGeom prst="roundRect">
            <a:avLst>
              <a:gd name="adj" fmla="val 18000"/>
            </a:avLst>
          </a:prstGeom>
          <a:solidFill>
            <a:srgbClr val="C2E2F8"/>
          </a:solidFill>
          <a:ln w="12700">
            <a:solidFill>
              <a:srgbClr val="3A6B9C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150" dirty="0" b="1">
                <a:solidFill>
                  <a:srgbClr val="000000"/>
                </a:solidFill>
                <a:latin typeface="Times New Roman"/>
                <a:cs typeface="Times New Roman"/>
              </a:rPr>
              <a:t>ViT-Face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85" name="Padlock Shackle"/>
          <p:cNvSpPr/>
          <p:nvPr/>
        </p:nvSpPr>
        <p:spPr>
          <a:xfrm>
            <a:off x="7834000" y="24940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B2A38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86" name="Padlock Body"/>
          <p:cNvSpPr/>
          <p:nvPr/>
        </p:nvSpPr>
        <p:spPr>
          <a:xfrm>
            <a:off x="7812000" y="25435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1B2A38"/>
          </a:solidFill>
          <a:ln w="6350">
            <a:solidFill>
              <a:srgbClr val="1B2A38"/>
            </a:solidFill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700" dirty="0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687" name="Arrow ViT-Face to Bar"/>
          <p:cNvCxnSpPr>
            <a:cxnSpLocks/>
          </p:cNvCxnSpPr>
          <p:nvPr/>
        </p:nvCxnSpPr>
        <p:spPr>
          <a:xfrm>
            <a:off x="7988000" y="2752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88" name="Bar ViT-Face"/>
          <p:cNvSpPr/>
          <p:nvPr/>
        </p:nvSpPr>
        <p:spPr>
          <a:xfrm>
            <a:off x="8175000" y="2675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64A1DA"/>
          </a:solidFill>
          <a:ln w="11430">
            <a:solidFill>
              <a:srgbClr val="254E77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89" name="Formula ViT-Face"/>
          <p:cNvSpPr txBox="1"/>
          <p:nvPr/>
        </p:nvSpPr>
        <p:spPr>
          <a:xfrm>
            <a:off x="8125500" y="2840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10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face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dirty="0" baseline="3000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690" name="Branch to ViT-Emotion"/>
          <p:cNvCxnSpPr>
            <a:cxnSpLocks/>
          </p:cNvCxnSpPr>
          <p:nvPr/>
        </p:nvCxnSpPr>
        <p:spPr>
          <a:xfrm>
            <a:off x="6761500" y="3313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1" name="ViT-Emotion"/>
          <p:cNvSpPr/>
          <p:nvPr/>
        </p:nvSpPr>
        <p:spPr>
          <a:xfrm>
            <a:off x="6954000" y="3099000"/>
            <a:ext cx="1034000" cy="467500"/>
          </a:xfrm>
          <a:prstGeom prst="roundRect">
            <a:avLst>
              <a:gd name="adj" fmla="val 18000"/>
            </a:avLst>
          </a:prstGeom>
          <a:solidFill>
            <a:srgbClr val="FCB7A5"/>
          </a:solidFill>
          <a:ln w="12700">
            <a:solidFill>
              <a:srgbClr val="A64B3B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150" dirty="0" b="1">
                <a:solidFill>
                  <a:srgbClr val="000000"/>
                </a:solidFill>
                <a:latin typeface="Times New Roman"/>
                <a:cs typeface="Times New Roman"/>
              </a:rPr>
              <a:t>ViT-Emotion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92" name="Padlock Shackle"/>
          <p:cNvSpPr/>
          <p:nvPr/>
        </p:nvSpPr>
        <p:spPr>
          <a:xfrm>
            <a:off x="7834000" y="30660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B1712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93" name="Padlock Body"/>
          <p:cNvSpPr/>
          <p:nvPr/>
        </p:nvSpPr>
        <p:spPr>
          <a:xfrm>
            <a:off x="7812000" y="31155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3B1712"/>
          </a:solidFill>
          <a:ln w="6350">
            <a:solidFill>
              <a:srgbClr val="3B1712"/>
            </a:solidFill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700" dirty="0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694" name="Arrow ViT-Emotion to Bar"/>
          <p:cNvCxnSpPr>
            <a:cxnSpLocks/>
          </p:cNvCxnSpPr>
          <p:nvPr/>
        </p:nvCxnSpPr>
        <p:spPr>
          <a:xfrm>
            <a:off x="7988000" y="3313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5" name="Bar ViT-Emotion"/>
          <p:cNvSpPr/>
          <p:nvPr/>
        </p:nvSpPr>
        <p:spPr>
          <a:xfrm>
            <a:off x="8175000" y="3236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FD9580"/>
          </a:solidFill>
          <a:ln w="11430">
            <a:solidFill>
              <a:srgbClr val="8E3B2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696" name="Formula ViT-Emotion"/>
          <p:cNvSpPr txBox="1"/>
          <p:nvPr/>
        </p:nvSpPr>
        <p:spPr>
          <a:xfrm>
            <a:off x="8125500" y="3401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10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emotion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dirty="0" baseline="3000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697" name="Branch to ViT-Age"/>
          <p:cNvCxnSpPr>
            <a:cxnSpLocks/>
          </p:cNvCxnSpPr>
          <p:nvPr/>
        </p:nvCxnSpPr>
        <p:spPr>
          <a:xfrm>
            <a:off x="6761500" y="3896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8" name="ViT-Age"/>
          <p:cNvSpPr/>
          <p:nvPr/>
        </p:nvSpPr>
        <p:spPr>
          <a:xfrm>
            <a:off x="6954000" y="3676500"/>
            <a:ext cx="1034000" cy="484000"/>
          </a:xfrm>
          <a:prstGeom prst="roundRect">
            <a:avLst>
              <a:gd name="adj" fmla="val 18000"/>
            </a:avLst>
          </a:prstGeom>
          <a:solidFill>
            <a:srgbClr val="CAE6C4"/>
          </a:solidFill>
          <a:ln w="12700">
            <a:solidFill>
              <a:srgbClr val="4D7C46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150" dirty="0" b="1">
                <a:solidFill>
                  <a:srgbClr val="000000"/>
                </a:solidFill>
                <a:latin typeface="Times New Roman"/>
                <a:cs typeface="Times New Roman"/>
              </a:rPr>
              <a:t>ViT-Age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99" name="Padlock Shackle"/>
          <p:cNvSpPr/>
          <p:nvPr/>
        </p:nvSpPr>
        <p:spPr>
          <a:xfrm>
            <a:off x="7834000" y="36435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92E16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700" name="Padlock Body"/>
          <p:cNvSpPr/>
          <p:nvPr/>
        </p:nvSpPr>
        <p:spPr>
          <a:xfrm>
            <a:off x="7812000" y="36930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192E16"/>
          </a:solidFill>
          <a:ln w="6350">
            <a:solidFill>
              <a:srgbClr val="192E16"/>
            </a:solidFill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700" dirty="0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701" name="Arrow ViT-Age to Bar"/>
          <p:cNvCxnSpPr>
            <a:cxnSpLocks/>
          </p:cNvCxnSpPr>
          <p:nvPr/>
        </p:nvCxnSpPr>
        <p:spPr>
          <a:xfrm>
            <a:off x="7988000" y="3896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02" name="Bar ViT-Age"/>
          <p:cNvSpPr/>
          <p:nvPr/>
        </p:nvSpPr>
        <p:spPr>
          <a:xfrm>
            <a:off x="8175000" y="3819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9DCD8D"/>
          </a:solidFill>
          <a:ln w="11430">
            <a:solidFill>
              <a:srgbClr val="3E6B36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703" name="Formula ViT-Age"/>
          <p:cNvSpPr txBox="1"/>
          <p:nvPr/>
        </p:nvSpPr>
        <p:spPr>
          <a:xfrm>
            <a:off x="8125500" y="3984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10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age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dirty="0" baseline="3000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704" name="Top Bar to Plus H"/>
          <p:cNvCxnSpPr>
            <a:cxnSpLocks/>
          </p:cNvCxnSpPr>
          <p:nvPr/>
        </p:nvCxnSpPr>
        <p:spPr>
          <a:xfrm>
            <a:off x="8928500" y="2752500"/>
            <a:ext cx="280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705" name="Top Bar to Plus V"/>
          <p:cNvCxnSpPr>
            <a:cxnSpLocks/>
          </p:cNvCxnSpPr>
          <p:nvPr/>
        </p:nvCxnSpPr>
        <p:spPr>
          <a:xfrm>
            <a:off x="9209000" y="2752500"/>
            <a:ext cx="0" cy="4675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706" name="Mid Bar to Plus H"/>
          <p:cNvCxnSpPr>
            <a:cxnSpLocks/>
          </p:cNvCxnSpPr>
          <p:nvPr/>
        </p:nvCxnSpPr>
        <p:spPr>
          <a:xfrm>
            <a:off x="8928500" y="3313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707" name="Bot Bar to Plus H"/>
          <p:cNvCxnSpPr>
            <a:cxnSpLocks/>
          </p:cNvCxnSpPr>
          <p:nvPr/>
        </p:nvCxnSpPr>
        <p:spPr>
          <a:xfrm>
            <a:off x="8928500" y="3896500"/>
            <a:ext cx="280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708" name="Bot Bar to Plus V"/>
          <p:cNvCxnSpPr>
            <a:cxnSpLocks/>
          </p:cNvCxnSpPr>
          <p:nvPr/>
        </p:nvCxnSpPr>
        <p:spPr>
          <a:xfrm flipV="1">
            <a:off x="9209000" y="3407000"/>
            <a:ext cx="0" cy="4895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09" name="Direct Sum Circle"/>
          <p:cNvSpPr/>
          <p:nvPr/>
        </p:nvSpPr>
        <p:spPr>
          <a:xfrm>
            <a:off x="9121000" y="3225500"/>
            <a:ext cx="176000" cy="17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C51"/>
            </a:solidFill>
          </a:ln>
        </p:spPr>
        <p:txBody>
          <a:bodyPr wrap="square" rtlCol="0" anchor="ctr" lIns="0" rIns="0" tIns="0" bIns="0"/>
          <a:lstStyle/>
          <a:p>
            <a:pPr algn="ctr"/>
            <a:r>
              <a:rPr lang="en-US" sz="1300" dirty="0" b="1">
                <a:solidFill>
                  <a:srgbClr val="000000"/>
                </a:solidFill>
                <a:latin typeface="Times New Roman"/>
                <a:cs typeface="Times New Roman"/>
              </a:rPr>
              <a:t>⊕</a:t>
            </a:r>
          </a:p>
        </p:txBody>
      </p:sp>
      <p:cxnSp>
        <p:nvCxnSpPr>
          <p:cNvPr id="710" name="Plus to Fused"/>
          <p:cNvCxnSpPr>
            <a:cxnSpLocks/>
          </p:cNvCxnSpPr>
          <p:nvPr/>
        </p:nvCxnSpPr>
        <p:spPr>
          <a:xfrm>
            <a:off x="9297000" y="3313500"/>
            <a:ext cx="137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11" name="Fused Face"/>
          <p:cNvSpPr/>
          <p:nvPr/>
        </p:nvSpPr>
        <p:spPr>
          <a:xfrm>
            <a:off x="9440000" y="2582000"/>
            <a:ext cx="214500" cy="495000"/>
          </a:xfrm>
          <a:prstGeom prst="roundRect">
            <a:avLst>
              <a:gd name="adj" fmla="val 8000"/>
            </a:avLst>
          </a:prstGeom>
          <a:solidFill>
            <a:srgbClr val="64A1DA"/>
          </a:solidFill>
          <a:ln w="11430">
            <a:solidFill>
              <a:srgbClr val="254E77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712" name="Fused Emotion"/>
          <p:cNvSpPr/>
          <p:nvPr/>
        </p:nvSpPr>
        <p:spPr>
          <a:xfrm>
            <a:off x="9440000" y="3077000"/>
            <a:ext cx="214500" cy="489500"/>
          </a:xfrm>
          <a:prstGeom prst="roundRect">
            <a:avLst>
              <a:gd name="adj" fmla="val 8000"/>
            </a:avLst>
          </a:prstGeom>
          <a:solidFill>
            <a:srgbClr val="FD9580"/>
          </a:solidFill>
          <a:ln w="11430">
            <a:solidFill>
              <a:srgbClr val="8E3B2B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713" name="Fused Age"/>
          <p:cNvSpPr/>
          <p:nvPr/>
        </p:nvSpPr>
        <p:spPr>
          <a:xfrm>
            <a:off x="9440000" y="3566500"/>
            <a:ext cx="214500" cy="489500"/>
          </a:xfrm>
          <a:prstGeom prst="roundRect">
            <a:avLst>
              <a:gd name="adj" fmla="val 8000"/>
            </a:avLst>
          </a:prstGeom>
          <a:solidFill>
            <a:srgbClr val="9DCD8D"/>
          </a:solidFill>
          <a:ln w="11430">
            <a:solidFill>
              <a:srgbClr val="3E6B36"/>
            </a:solidFill>
          </a:ln>
        </p:spPr>
        <p:txBody>
          <a:bodyPr wrap="square" rtlCol="0" anchor="ctr" lIns="45720" rIns="45720" tIns="22860" bIns="22860"/>
          <a:lstStyle/>
          <a:p>
            <a:endParaRPr lang="en-US" sz="1100" dirty="0"/>
          </a:p>
        </p:txBody>
      </p:sp>
      <p:sp>
        <p:nvSpPr>
          <p:cNvPr id="714" name="Fused Vector Text"/>
          <p:cNvSpPr txBox="1"/>
          <p:nvPr/>
        </p:nvSpPr>
        <p:spPr>
          <a:xfrm>
            <a:off x="8730500" y="4122000"/>
            <a:ext cx="1650000" cy="742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/>
          <a:lstStyle/>
          <a:p>
            <a:pPr algn="ctr"/>
            <a:r>
              <a:rPr lang="en-US" sz="1050" dirty="0" b="1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lang="en-US" sz="90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tri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lang="en-US" sz="105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face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⊕ </a:t>
            </a:r>
            <a:r>
              <a:rPr lang="en-US" sz="105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emotion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⊕ </a:t>
            </a:r>
            <a:r>
              <a:rPr lang="en-US" sz="1050" dirty="0" b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dirty="0" baseline="-25000">
                <a:solidFill>
                  <a:srgbClr val="000000"/>
                </a:solidFill>
                <a:latin typeface="Times New Roman"/>
                <a:cs typeface="Times New Roman"/>
              </a:rPr>
              <a:t>age</a:t>
            </a:r>
          </a:p>
          <a:p>
            <a:pPr algn="ctr"/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∈ ℝ</a:t>
            </a:r>
            <a:r>
              <a:rPr lang="en-US" sz="900" dirty="0" baseline="30000">
                <a:solidFill>
                  <a:srgbClr val="000000"/>
                </a:solidFill>
                <a:latin typeface="Times New Roman"/>
                <a:cs typeface="Times New Roman"/>
              </a:rPr>
              <a:t>2304</a:t>
            </a:r>
          </a:p>
          <a:p>
            <a:pPr algn="ctr">
              <a:spcBef>
                <a:spcPts val="150"/>
              </a:spcBef>
            </a:pP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2,304-dimensional</a:t>
            </a:r>
          </a:p>
          <a:p>
            <a:pPr algn="ctr"/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fused vector</a:t>
            </a:r>
          </a:p>
        </p:txBody>
      </p:sp>
      <p:cxnSp>
        <p:nvCxnSpPr>
          <p:cNvPr id="715" name="Fused to Classifiers"/>
          <p:cNvCxnSpPr>
            <a:cxnSpLocks/>
          </p:cNvCxnSpPr>
          <p:nvPr/>
        </p:nvCxnSpPr>
        <p:spPr>
          <a:xfrm>
            <a:off x="9660000" y="3313500"/>
            <a:ext cx="225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716" name="Classifiers Container"/>
          <p:cNvSpPr/>
          <p:nvPr/>
        </p:nvSpPr>
        <p:spPr>
          <a:xfrm>
            <a:off x="9891000" y="2549000"/>
            <a:ext cx="957000" cy="1496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595959"/>
            </a:solidFill>
          </a:ln>
        </p:spPr>
        <p:txBody>
          <a:bodyPr wrap="square" rtlCol="0" anchor="t" lIns="0" rIns="0" tIns="55000" bIns="33000"/>
          <a:lstStyle/>
          <a:p>
            <a:pPr algn="ctr"/>
            <a:r>
              <a:rPr lang="en-US" sz="1000" dirty="0" b="1">
                <a:solidFill>
                  <a:srgbClr val="000000"/>
                </a:solidFill>
                <a:latin typeface="Times New Roman"/>
                <a:cs typeface="Times New Roman"/>
              </a:rPr>
              <a:t>Classifiers</a:t>
            </a:r>
          </a:p>
          <a:p>
            <a:pPr algn="ctr"/>
            <a:r>
              <a:rPr lang="en-US" sz="650" dirty="0">
                <a:solidFill>
                  <a:srgbClr val="111111"/>
                </a:solidFill>
                <a:latin typeface="Times New Roman"/>
                <a:cs typeface="Times New Roman"/>
              </a:rPr>
              <a:t>(LR / SVM / RF / GNB)</a:t>
            </a:r>
          </a:p>
        </p:txBody>
      </p:sp>
      <p:sp>
        <p:nvSpPr>
          <p:cNvPr id="717" name="Classifier LR"/>
          <p:cNvSpPr/>
          <p:nvPr/>
        </p:nvSpPr>
        <p:spPr>
          <a:xfrm>
            <a:off x="10045000" y="2923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LR</a:t>
            </a:r>
          </a:p>
        </p:txBody>
      </p:sp>
      <p:sp>
        <p:nvSpPr>
          <p:cNvPr id="718" name="Classifier SVM"/>
          <p:cNvSpPr/>
          <p:nvPr/>
        </p:nvSpPr>
        <p:spPr>
          <a:xfrm>
            <a:off x="10045000" y="3187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SVM</a:t>
            </a:r>
          </a:p>
        </p:txBody>
      </p:sp>
      <p:sp>
        <p:nvSpPr>
          <p:cNvPr id="719" name="Classifier RF"/>
          <p:cNvSpPr/>
          <p:nvPr/>
        </p:nvSpPr>
        <p:spPr>
          <a:xfrm>
            <a:off x="10045000" y="3451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RF</a:t>
            </a:r>
          </a:p>
        </p:txBody>
      </p:sp>
      <p:sp>
        <p:nvSpPr>
          <p:cNvPr id="720" name="Classifier GNB"/>
          <p:cNvSpPr/>
          <p:nvPr/>
        </p:nvSpPr>
        <p:spPr>
          <a:xfrm>
            <a:off x="10045000" y="3715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rtlCol="0" anchor="ctr" lIns="45720" rIns="45720" tIns="22860" bIns="22860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GNB</a:t>
            </a:r>
          </a:p>
        </p:txBody>
      </p:sp>
      <p:cxnSp>
        <p:nvCxnSpPr>
          <p:cNvPr id="721" name="Classifiers to Output"/>
          <p:cNvCxnSpPr>
            <a:cxnSpLocks/>
          </p:cNvCxnSpPr>
          <p:nvPr/>
        </p:nvCxnSpPr>
        <p:spPr>
          <a:xfrm>
            <a:off x="10853500" y="3313500"/>
            <a:ext cx="187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722" name="6-Class Output Container"/>
          <p:cNvSpPr/>
          <p:nvPr/>
        </p:nvSpPr>
        <p:spPr>
          <a:xfrm>
            <a:off x="11046000" y="2527000"/>
            <a:ext cx="891000" cy="1672000"/>
          </a:xfrm>
          <a:prstGeom prst="roundRect">
            <a:avLst>
              <a:gd name="adj" fmla="val 8000"/>
            </a:avLst>
          </a:prstGeom>
          <a:solidFill>
            <a:srgbClr val="EFF7EB"/>
          </a:solidFill>
          <a:ln w="11430">
            <a:solidFill>
              <a:srgbClr val="C5DFB8"/>
            </a:solidFill>
          </a:ln>
        </p:spPr>
        <p:txBody>
          <a:bodyPr wrap="square" rtlCol="0" anchor="t" lIns="27500" rIns="22000" tIns="55000" bIns="33000"/>
          <a:lstStyle/>
          <a:p>
            <a:pPr algn="ctr"/>
            <a:r>
              <a:rPr lang="en-US" sz="900" dirty="0" b="1">
                <a:solidFill>
                  <a:srgbClr val="111111"/>
                </a:solidFill>
                <a:latin typeface="Times New Roman"/>
                <a:cs typeface="Times New Roman"/>
              </a:rPr>
              <a:t>6-Class</a:t>
            </a:r>
          </a:p>
          <a:p>
            <a:pPr algn="ctr"/>
            <a:r>
              <a:rPr lang="en-US" sz="900" dirty="0" b="1">
                <a:solidFill>
                  <a:srgbClr val="111111"/>
                </a:solidFill>
                <a:latin typeface="Times New Roman"/>
                <a:cs typeface="Times New Roman"/>
              </a:rPr>
              <a:t>Intersectional</a:t>
            </a:r>
          </a:p>
          <a:p>
            <a:pPr algn="ctr"/>
            <a:r>
              <a:rPr lang="en-US" sz="900" dirty="0" b="1">
                <a:solidFill>
                  <a:srgbClr val="111111"/>
                </a:solidFill>
                <a:latin typeface="Times New Roman"/>
                <a:cs typeface="Times New Roman"/>
              </a:rPr>
              <a:t>Demographic</a:t>
            </a:r>
          </a:p>
          <a:p>
            <a:pPr algn="ctr"/>
            <a:r>
              <a:rPr lang="en-US" sz="900" dirty="0" b="1">
                <a:solidFill>
                  <a:srgbClr val="111111"/>
                </a:solidFill>
                <a:latin typeface="Times New Roman"/>
                <a:cs typeface="Times New Roman"/>
              </a:rPr>
              <a:t>Recognition</a:t>
            </a:r>
          </a:p>
          <a:p>
            <a:pPr algn="l">
              <a:spcBef>
                <a:spcPts val="25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Asian Females</a:t>
            </a:r>
          </a:p>
          <a:p>
            <a:pPr algn="l">
              <a:spcBef>
                <a:spcPts val="12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Asian Males</a:t>
            </a:r>
          </a:p>
          <a:p>
            <a:pPr algn="l">
              <a:spcBef>
                <a:spcPts val="12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Black Females</a:t>
            </a:r>
          </a:p>
          <a:p>
            <a:pPr algn="l">
              <a:spcBef>
                <a:spcPts val="12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Black Males</a:t>
            </a:r>
          </a:p>
          <a:p>
            <a:pPr algn="l">
              <a:spcBef>
                <a:spcPts val="12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White Females</a:t>
            </a:r>
          </a:p>
          <a:p>
            <a:pPr algn="l">
              <a:spcBef>
                <a:spcPts val="120"/>
              </a:spcBef>
            </a:pPr>
            <a:r>
              <a:rPr lang="en-US" sz="800" dirty="0" b="1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White Males</a:t>
            </a:r>
          </a:p>
        </p:txBody>
      </p:sp>
    </p:spTree>
    <p:extLst>
      <p:ext uri="{BB962C8B-B14F-4D97-AF65-F5344CB8AC3E}">
        <p14:creationId val="297328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Myriad Pro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 Vania</cp:lastModifiedBy>
  <cp:revision>49</cp:revision>
  <dcterms:created xsi:type="dcterms:W3CDTF">2013-01-27T09:14:16Z</dcterms:created>
  <dcterms:modified xsi:type="dcterms:W3CDTF">2026-09-02T09:17:42Z</dcterms:modified>
  <cp:category/>
</cp:coreProperties>
</file>