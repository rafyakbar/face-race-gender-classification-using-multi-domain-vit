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744DF-70DD-769D-7BE6-9ABF7C98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ECB163E-EED0-8CD1-006D-6347A4667832}"/>
              </a:ext>
            </a:extLst>
          </p:cNvPr>
          <p:cNvSpPr/>
          <p:nvPr/>
        </p:nvSpPr>
        <p:spPr>
          <a:xfrm>
            <a:off x="164592" y="228600"/>
            <a:ext cx="1874519" cy="2331720"/>
          </a:xfrm>
          <a:prstGeom prst="roundRect">
            <a:avLst/>
          </a:prstGeom>
          <a:solidFill>
            <a:srgbClr val="EFF6FB"/>
          </a:solidFill>
          <a:ln w="15240">
            <a:solidFill>
              <a:srgbClr val="58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b="1" dirty="0">
                <a:solidFill>
                  <a:srgbClr val="5891BE"/>
                </a:solidFill>
                <a:latin typeface="Arial"/>
              </a:rPr>
              <a:t>Image Input</a:t>
            </a:r>
            <a:endParaRPr lang="id-ID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36128D-FC07-F5ED-4470-DD2D0581ACEB}"/>
              </a:ext>
            </a:extLst>
          </p:cNvPr>
          <p:cNvSpPr/>
          <p:nvPr/>
        </p:nvSpPr>
        <p:spPr>
          <a:xfrm>
            <a:off x="2267712" y="228600"/>
            <a:ext cx="1874519" cy="2331720"/>
          </a:xfrm>
          <a:prstGeom prst="roundRect">
            <a:avLst/>
          </a:prstGeom>
          <a:solidFill>
            <a:srgbClr val="F1F8F1"/>
          </a:solidFill>
          <a:ln w="15240">
            <a:solidFill>
              <a:srgbClr val="68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/>
              </a:rPr>
              <a:t>Resize</a:t>
            </a:r>
          </a:p>
          <a:p>
            <a:pPr algn="ctr"/>
            <a:r>
              <a:rPr lang="en-ID" sz="1200" dirty="0">
                <a:solidFill>
                  <a:schemeClr val="tx1"/>
                </a:solidFill>
                <a:latin typeface="Arial"/>
              </a:rPr>
              <a:t>224 × 224</a:t>
            </a: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r>
              <a:rPr lang="id-ID" sz="1400" b="1" dirty="0">
                <a:solidFill>
                  <a:srgbClr val="689E6B"/>
                </a:solidFill>
                <a:latin typeface="Arial"/>
              </a:rPr>
              <a:t>Pre-processing</a:t>
            </a:r>
            <a:endParaRPr sz="14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FEE72E-4FDE-7BDD-A30C-C89C2684CB8A}"/>
              </a:ext>
            </a:extLst>
          </p:cNvPr>
          <p:cNvSpPr/>
          <p:nvPr/>
        </p:nvSpPr>
        <p:spPr>
          <a:xfrm>
            <a:off x="4370832" y="228600"/>
            <a:ext cx="2880360" cy="2331720"/>
          </a:xfrm>
          <a:prstGeom prst="roundRect">
            <a:avLst/>
          </a:prstGeom>
          <a:solidFill>
            <a:srgbClr val="F7F3FA"/>
          </a:solidFill>
          <a:ln w="15240">
            <a:solidFill>
              <a:srgbClr val="8B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8B70B1"/>
              </a:solidFill>
              <a:latin typeface="Arial"/>
            </a:endParaRPr>
          </a:p>
          <a:p>
            <a:pPr algn="ctr"/>
            <a:r>
              <a:rPr lang="id-ID" sz="1400" b="1" dirty="0">
                <a:solidFill>
                  <a:srgbClr val="8B70B1"/>
                </a:solidFill>
                <a:latin typeface="Arial"/>
              </a:rPr>
              <a:t>Feature Extraction</a:t>
            </a:r>
          </a:p>
          <a:p>
            <a:pPr algn="ctr"/>
            <a:endParaRPr sz="14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48740F-9FBF-E736-9ACB-4573EFB6C976}"/>
              </a:ext>
            </a:extLst>
          </p:cNvPr>
          <p:cNvSpPr/>
          <p:nvPr/>
        </p:nvSpPr>
        <p:spPr>
          <a:xfrm>
            <a:off x="7479792" y="228600"/>
            <a:ext cx="1965960" cy="2331720"/>
          </a:xfrm>
          <a:prstGeom prst="roundRect">
            <a:avLst/>
          </a:prstGeom>
          <a:solidFill>
            <a:srgbClr val="FCF4F4"/>
          </a:solidFill>
          <a:ln w="15240">
            <a:solidFill>
              <a:srgbClr val="B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/>
              </a:rPr>
              <a:t>Concatenation</a:t>
            </a: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r>
              <a:rPr lang="id-ID" sz="1400" b="1" dirty="0">
                <a:solidFill>
                  <a:srgbClr val="BE5B5B"/>
                </a:solidFill>
                <a:latin typeface="Arial"/>
              </a:rPr>
              <a:t>Feature Fusion</a:t>
            </a:r>
            <a:endParaRPr sz="14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6016D3D-C54F-FDB8-7F56-A3119E7D6EA5}"/>
              </a:ext>
            </a:extLst>
          </p:cNvPr>
          <p:cNvSpPr/>
          <p:nvPr/>
        </p:nvSpPr>
        <p:spPr>
          <a:xfrm>
            <a:off x="9674352" y="228600"/>
            <a:ext cx="2350008" cy="2331720"/>
          </a:xfrm>
          <a:prstGeom prst="roundRect">
            <a:avLst/>
          </a:prstGeom>
          <a:solidFill>
            <a:srgbClr val="FCF7EE"/>
          </a:solidFill>
          <a:ln w="15240">
            <a:solidFill>
              <a:srgbClr val="D38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/>
              </a:rPr>
              <a:t>80:20</a:t>
            </a: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r>
              <a:rPr lang="id-ID" sz="1400" b="1" dirty="0">
                <a:solidFill>
                  <a:srgbClr val="D38F41"/>
                </a:solidFill>
                <a:latin typeface="Arial"/>
              </a:rPr>
              <a:t>Train</a:t>
            </a:r>
            <a:r>
              <a:rPr lang="en-US" sz="1400" b="1" dirty="0">
                <a:solidFill>
                  <a:srgbClr val="D38F41"/>
                </a:solidFill>
                <a:latin typeface="Arial"/>
              </a:rPr>
              <a:t>-</a:t>
            </a:r>
            <a:r>
              <a:rPr lang="id-ID" sz="1400" b="1" dirty="0">
                <a:solidFill>
                  <a:srgbClr val="D38F41"/>
                </a:solidFill>
                <a:latin typeface="Arial"/>
              </a:rPr>
              <a:t>Test Split</a:t>
            </a:r>
            <a:endParaRPr sz="1400" b="1" dirty="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32" name="Connector 31">
            <a:extLst>
              <a:ext uri="{FF2B5EF4-FFF2-40B4-BE49-F238E27FC236}">
                <a16:creationId xmlns:a16="http://schemas.microsoft.com/office/drawing/2014/main" id="{B83E22D0-7629-99AA-6E9C-7E5C7FE62136}"/>
              </a:ext>
            </a:extLst>
          </p:cNvPr>
          <p:cNvCxnSpPr/>
          <p:nvPr/>
        </p:nvCxnSpPr>
        <p:spPr>
          <a:xfrm>
            <a:off x="2039112" y="1399032"/>
            <a:ext cx="228600" cy="0"/>
          </a:xfrm>
          <a:prstGeom prst="line">
            <a:avLst/>
          </a:prstGeom>
          <a:ln w="2286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>
            <a:extLst>
              <a:ext uri="{FF2B5EF4-FFF2-40B4-BE49-F238E27FC236}">
                <a16:creationId xmlns:a16="http://schemas.microsoft.com/office/drawing/2014/main" id="{A5FF0DF2-C465-7BE7-EE6E-25511B9D3015}"/>
              </a:ext>
            </a:extLst>
          </p:cNvPr>
          <p:cNvCxnSpPr/>
          <p:nvPr/>
        </p:nvCxnSpPr>
        <p:spPr>
          <a:xfrm>
            <a:off x="4142232" y="1399032"/>
            <a:ext cx="228600" cy="0"/>
          </a:xfrm>
          <a:prstGeom prst="line">
            <a:avLst/>
          </a:prstGeom>
          <a:ln w="2286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BE3F69AD-AF64-36D4-2ADB-A8A1329115CF}"/>
              </a:ext>
            </a:extLst>
          </p:cNvPr>
          <p:cNvCxnSpPr/>
          <p:nvPr/>
        </p:nvCxnSpPr>
        <p:spPr>
          <a:xfrm>
            <a:off x="7251192" y="1399032"/>
            <a:ext cx="228600" cy="0"/>
          </a:xfrm>
          <a:prstGeom prst="line">
            <a:avLst/>
          </a:prstGeom>
          <a:ln w="2286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646E9550-62E5-5AED-14F0-28D7C65333E3}"/>
              </a:ext>
            </a:extLst>
          </p:cNvPr>
          <p:cNvCxnSpPr/>
          <p:nvPr/>
        </p:nvCxnSpPr>
        <p:spPr>
          <a:xfrm>
            <a:off x="9445752" y="1399032"/>
            <a:ext cx="228600" cy="0"/>
          </a:xfrm>
          <a:prstGeom prst="line">
            <a:avLst/>
          </a:prstGeom>
          <a:ln w="2286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742F915-3DF3-E15F-8AEA-587E73F24497}"/>
              </a:ext>
            </a:extLst>
          </p:cNvPr>
          <p:cNvSpPr/>
          <p:nvPr/>
        </p:nvSpPr>
        <p:spPr>
          <a:xfrm>
            <a:off x="164592" y="2971800"/>
            <a:ext cx="6537960" cy="2697480"/>
          </a:xfrm>
          <a:prstGeom prst="roundRect">
            <a:avLst/>
          </a:prstGeom>
          <a:solidFill>
            <a:srgbClr val="EFF6FB"/>
          </a:solidFill>
          <a:ln w="15240">
            <a:solidFill>
              <a:srgbClr val="1F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r>
              <a:rPr lang="en-US" sz="1400" b="1" dirty="0">
                <a:solidFill>
                  <a:srgbClr val="BE5B5B"/>
                </a:solidFill>
                <a:latin typeface="Arial"/>
              </a:rPr>
              <a:t>Model Training</a:t>
            </a:r>
          </a:p>
          <a:p>
            <a:pPr algn="ctr"/>
            <a:endParaRPr sz="1400" b="1" dirty="0">
              <a:solidFill>
                <a:srgbClr val="1F375B"/>
              </a:solidFill>
              <a:latin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78FB86-20A2-42A7-3CFC-CA855151B049}"/>
              </a:ext>
            </a:extLst>
          </p:cNvPr>
          <p:cNvSpPr txBox="1"/>
          <p:nvPr/>
        </p:nvSpPr>
        <p:spPr>
          <a:xfrm>
            <a:off x="767732" y="5069538"/>
            <a:ext cx="1175899" cy="357021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sz="1100" b="1" dirty="0">
                <a:solidFill>
                  <a:srgbClr val="1F375B"/>
                </a:solidFill>
                <a:latin typeface="Arial"/>
              </a:rPr>
              <a:t>Stratified 5-Fold</a:t>
            </a:r>
            <a:br>
              <a:rPr dirty="0"/>
            </a:br>
            <a:r>
              <a:rPr sz="1100" b="1" dirty="0">
                <a:latin typeface="Arial" panose="020B0604020202020204" pitchFamily="34" charset="0"/>
                <a:cs typeface="Arial" panose="020B0604020202020204" pitchFamily="34" charset="0"/>
              </a:rPr>
              <a:t>Cross-Validation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7A424C1-7814-BAC1-3AE8-55653829A381}"/>
              </a:ext>
            </a:extLst>
          </p:cNvPr>
          <p:cNvSpPr/>
          <p:nvPr/>
        </p:nvSpPr>
        <p:spPr>
          <a:xfrm>
            <a:off x="6976872" y="2971800"/>
            <a:ext cx="2240280" cy="2697480"/>
          </a:xfrm>
          <a:prstGeom prst="roundRect">
            <a:avLst/>
          </a:prstGeom>
          <a:solidFill>
            <a:srgbClr val="F1F8F1"/>
          </a:solidFill>
          <a:ln w="15240">
            <a:solidFill>
              <a:srgbClr val="68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endParaRPr lang="en-US" sz="1400" b="1" dirty="0">
              <a:solidFill>
                <a:srgbClr val="689E6B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rgbClr val="689E6B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rgbClr val="689E6B"/>
              </a:solidFill>
              <a:latin typeface="Arial"/>
            </a:endParaRPr>
          </a:p>
          <a:p>
            <a:pPr algn="ctr"/>
            <a:endParaRPr lang="en-ID" sz="105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en-ID" sz="1050" b="1" dirty="0">
              <a:solidFill>
                <a:schemeClr val="tx1"/>
              </a:solidFill>
              <a:latin typeface="Arial"/>
            </a:endParaRPr>
          </a:p>
          <a:p>
            <a:pPr algn="ctr"/>
            <a:r>
              <a:rPr lang="en-ID" sz="1050" b="1" dirty="0">
                <a:solidFill>
                  <a:schemeClr val="tx1"/>
                </a:solidFill>
                <a:latin typeface="Arial"/>
              </a:rPr>
              <a:t>Test Set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Arial"/>
              </a:rPr>
              <a:t>↓</a:t>
            </a:r>
            <a:endParaRPr lang="en-ID" sz="1400" b="1" dirty="0">
              <a:solidFill>
                <a:schemeClr val="tx1"/>
              </a:solidFill>
              <a:latin typeface="Arial"/>
            </a:endParaRPr>
          </a:p>
          <a:p>
            <a:pPr algn="ctr"/>
            <a:r>
              <a:rPr lang="en-ID" sz="1000" b="1" dirty="0">
                <a:solidFill>
                  <a:schemeClr val="tx1"/>
                </a:solidFill>
                <a:latin typeface="Arial"/>
              </a:rPr>
              <a:t>Prediction</a:t>
            </a:r>
            <a:endParaRPr lang="en-ID" sz="1400" b="1" dirty="0">
              <a:solidFill>
                <a:srgbClr val="689E6B"/>
              </a:solidFill>
              <a:latin typeface="Arial"/>
            </a:endParaRPr>
          </a:p>
          <a:p>
            <a:pPr algn="ctr"/>
            <a:endParaRPr lang="en-ID" sz="1400" b="1" dirty="0">
              <a:solidFill>
                <a:srgbClr val="689E6B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689E6B"/>
                </a:solidFill>
                <a:latin typeface="Arial"/>
              </a:rPr>
              <a:t>Testing</a:t>
            </a:r>
            <a:endParaRPr lang="en-US" sz="1400" b="1" dirty="0">
              <a:solidFill>
                <a:srgbClr val="689E6B"/>
              </a:solidFill>
              <a:latin typeface="Arial"/>
            </a:endParaRPr>
          </a:p>
          <a:p>
            <a:pPr algn="ctr"/>
            <a:r>
              <a:rPr lang="en-US" sz="1400" b="1" dirty="0">
                <a:solidFill>
                  <a:srgbClr val="689E6B"/>
                </a:solidFill>
                <a:latin typeface="Arial"/>
              </a:rPr>
              <a:t>(on Test Set)</a:t>
            </a:r>
            <a:endParaRPr sz="1400" b="1" dirty="0">
              <a:solidFill>
                <a:srgbClr val="689E6B"/>
              </a:solidFill>
              <a:latin typeface="Arial"/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BFCB864-1319-6431-EA23-2F0B5B7B9B6D}"/>
              </a:ext>
            </a:extLst>
          </p:cNvPr>
          <p:cNvSpPr/>
          <p:nvPr/>
        </p:nvSpPr>
        <p:spPr>
          <a:xfrm>
            <a:off x="9491472" y="2971800"/>
            <a:ext cx="2532888" cy="2697480"/>
          </a:xfrm>
          <a:prstGeom prst="roundRect">
            <a:avLst/>
          </a:prstGeom>
          <a:solidFill>
            <a:srgbClr val="FCF4F4"/>
          </a:solidFill>
          <a:ln w="15240">
            <a:solidFill>
              <a:srgbClr val="BE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54864" rIns="73152" rtlCol="0" anchor="ctr"/>
          <a:lstStyle/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endParaRPr lang="en-US" sz="1400" b="1" dirty="0">
              <a:solidFill>
                <a:srgbClr val="BE5B5B"/>
              </a:solidFill>
              <a:latin typeface="Arial"/>
            </a:endParaRPr>
          </a:p>
          <a:p>
            <a:pPr algn="ctr"/>
            <a:r>
              <a:rPr sz="1400" b="1" dirty="0">
                <a:solidFill>
                  <a:srgbClr val="BE5B5B"/>
                </a:solidFill>
                <a:latin typeface="Arial"/>
              </a:rPr>
              <a:t>Performance Evaluation</a:t>
            </a:r>
          </a:p>
        </p:txBody>
      </p:sp>
      <p:cxnSp>
        <p:nvCxnSpPr>
          <p:cNvPr id="57" name="Connector 56">
            <a:extLst>
              <a:ext uri="{FF2B5EF4-FFF2-40B4-BE49-F238E27FC236}">
                <a16:creationId xmlns:a16="http://schemas.microsoft.com/office/drawing/2014/main" id="{370E01EF-2BB9-0555-6698-629DEB2CE974}"/>
              </a:ext>
            </a:extLst>
          </p:cNvPr>
          <p:cNvCxnSpPr/>
          <p:nvPr/>
        </p:nvCxnSpPr>
        <p:spPr>
          <a:xfrm>
            <a:off x="10835640" y="2560320"/>
            <a:ext cx="0" cy="274320"/>
          </a:xfrm>
          <a:prstGeom prst="line">
            <a:avLst/>
          </a:prstGeom>
          <a:ln w="22860">
            <a:solidFill>
              <a:srgbClr val="D38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E91551A3-F6C1-A608-4C2B-EDBAA61DFED7}"/>
              </a:ext>
            </a:extLst>
          </p:cNvPr>
          <p:cNvCxnSpPr/>
          <p:nvPr/>
        </p:nvCxnSpPr>
        <p:spPr>
          <a:xfrm flipH="1">
            <a:off x="3383280" y="2834640"/>
            <a:ext cx="7452360" cy="0"/>
          </a:xfrm>
          <a:prstGeom prst="line">
            <a:avLst/>
          </a:prstGeom>
          <a:ln w="22860">
            <a:solidFill>
              <a:srgbClr val="D38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>
            <a:extLst>
              <a:ext uri="{FF2B5EF4-FFF2-40B4-BE49-F238E27FC236}">
                <a16:creationId xmlns:a16="http://schemas.microsoft.com/office/drawing/2014/main" id="{0BAFEC1F-6D30-4A2A-5F38-27159B342EA9}"/>
              </a:ext>
            </a:extLst>
          </p:cNvPr>
          <p:cNvCxnSpPr/>
          <p:nvPr/>
        </p:nvCxnSpPr>
        <p:spPr>
          <a:xfrm>
            <a:off x="3383280" y="2834640"/>
            <a:ext cx="0" cy="137160"/>
          </a:xfrm>
          <a:prstGeom prst="line">
            <a:avLst/>
          </a:prstGeom>
          <a:ln w="22860">
            <a:solidFill>
              <a:srgbClr val="D38F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>
            <a:extLst>
              <a:ext uri="{FF2B5EF4-FFF2-40B4-BE49-F238E27FC236}">
                <a16:creationId xmlns:a16="http://schemas.microsoft.com/office/drawing/2014/main" id="{E1476255-4138-5D3B-4F46-0B1F6E566E74}"/>
              </a:ext>
            </a:extLst>
          </p:cNvPr>
          <p:cNvCxnSpPr/>
          <p:nvPr/>
        </p:nvCxnSpPr>
        <p:spPr>
          <a:xfrm flipH="1">
            <a:off x="8092440" y="2834640"/>
            <a:ext cx="2743200" cy="0"/>
          </a:xfrm>
          <a:prstGeom prst="line">
            <a:avLst/>
          </a:prstGeom>
          <a:ln w="15240">
            <a:solidFill>
              <a:srgbClr val="68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>
            <a:extLst>
              <a:ext uri="{FF2B5EF4-FFF2-40B4-BE49-F238E27FC236}">
                <a16:creationId xmlns:a16="http://schemas.microsoft.com/office/drawing/2014/main" id="{054EDF9A-992A-A48F-0B8C-2D7CBB9781CC}"/>
              </a:ext>
            </a:extLst>
          </p:cNvPr>
          <p:cNvCxnSpPr/>
          <p:nvPr/>
        </p:nvCxnSpPr>
        <p:spPr>
          <a:xfrm>
            <a:off x="8092440" y="2834640"/>
            <a:ext cx="0" cy="137160"/>
          </a:xfrm>
          <a:prstGeom prst="line">
            <a:avLst/>
          </a:prstGeom>
          <a:ln w="15240">
            <a:solidFill>
              <a:srgbClr val="68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2944A618-8A70-4B2F-9D2D-DA64F0284860}"/>
              </a:ext>
            </a:extLst>
          </p:cNvPr>
          <p:cNvCxnSpPr>
            <a:cxnSpLocks/>
            <a:stCxn id="48" idx="3"/>
            <a:endCxn id="53" idx="1"/>
          </p:cNvCxnSpPr>
          <p:nvPr/>
        </p:nvCxnSpPr>
        <p:spPr>
          <a:xfrm>
            <a:off x="9217152" y="4320540"/>
            <a:ext cx="274320" cy="0"/>
          </a:xfrm>
          <a:prstGeom prst="line">
            <a:avLst/>
          </a:prstGeom>
          <a:ln w="22860">
            <a:solidFill>
              <a:srgbClr val="BE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FB573F93-80C7-ACBA-18BC-2DDAA7482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584264"/>
            <a:ext cx="1445704" cy="144570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FEA40AD-7728-2D79-6505-F0DA51069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63" y="923544"/>
            <a:ext cx="1110521" cy="111052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07205328-DE46-7386-40FC-337A8F50E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141" y="489978"/>
            <a:ext cx="787994" cy="723119"/>
          </a:xfrm>
          <a:prstGeom prst="rect">
            <a:avLst/>
          </a:prstGeom>
        </p:spPr>
      </p:pic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EC7E53BC-75B2-CDBD-0505-570C9BF44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85304"/>
              </p:ext>
            </p:extLst>
          </p:nvPr>
        </p:nvGraphicFramePr>
        <p:xfrm>
          <a:off x="5386578" y="1572152"/>
          <a:ext cx="833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801102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27469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55798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11194644"/>
                    </a:ext>
                  </a:extLst>
                </a:gridCol>
              </a:tblGrid>
              <a:tr h="191559"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b="1" dirty="0">
                          <a:solidFill>
                            <a:schemeClr val="tx1"/>
                          </a:solidFill>
                        </a:rPr>
                        <a:t>---</a:t>
                      </a:r>
                      <a:endParaRPr lang="id-ID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66306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3B43D407-426D-FEA5-08E0-72CFC47C9235}"/>
              </a:ext>
            </a:extLst>
          </p:cNvPr>
          <p:cNvSpPr txBox="1"/>
          <p:nvPr/>
        </p:nvSpPr>
        <p:spPr>
          <a:xfrm>
            <a:off x="5341024" y="1931286"/>
            <a:ext cx="924227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en-US" sz="800" b="1" dirty="0">
                <a:solidFill>
                  <a:srgbClr val="232323"/>
                </a:solidFill>
                <a:latin typeface="Arial"/>
              </a:rPr>
              <a:t>Emotion Features</a:t>
            </a:r>
            <a:endParaRPr sz="800" b="1" dirty="0">
              <a:solidFill>
                <a:srgbClr val="232323"/>
              </a:solidFill>
              <a:latin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8F4243C-83A0-9742-5DB5-33C25A42AA03}"/>
              </a:ext>
            </a:extLst>
          </p:cNvPr>
          <p:cNvCxnSpPr>
            <a:endCxn id="86" idx="0"/>
          </p:cNvCxnSpPr>
          <p:nvPr/>
        </p:nvCxnSpPr>
        <p:spPr>
          <a:xfrm>
            <a:off x="5803138" y="1213097"/>
            <a:ext cx="0" cy="35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89DDE728-BAEF-F66E-4BCB-47360F263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55" y="489978"/>
            <a:ext cx="787994" cy="723119"/>
          </a:xfrm>
          <a:prstGeom prst="rect">
            <a:avLst/>
          </a:prstGeom>
        </p:spPr>
      </p:pic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B93F6BC6-FB9A-AE44-56FD-2B152FC0A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735602"/>
              </p:ext>
            </p:extLst>
          </p:nvPr>
        </p:nvGraphicFramePr>
        <p:xfrm>
          <a:off x="6314292" y="1572152"/>
          <a:ext cx="833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801102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27469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55798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11194644"/>
                    </a:ext>
                  </a:extLst>
                </a:gridCol>
              </a:tblGrid>
              <a:tr h="191559"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b="1" dirty="0">
                          <a:solidFill>
                            <a:schemeClr val="tx1"/>
                          </a:solidFill>
                        </a:rPr>
                        <a:t>---</a:t>
                      </a:r>
                      <a:endParaRPr lang="id-ID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66306"/>
                  </a:ext>
                </a:extLst>
              </a:tr>
            </a:tbl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B76806E5-21B2-C604-AE58-F3F8E0056A28}"/>
              </a:ext>
            </a:extLst>
          </p:cNvPr>
          <p:cNvSpPr txBox="1"/>
          <p:nvPr/>
        </p:nvSpPr>
        <p:spPr>
          <a:xfrm>
            <a:off x="6376941" y="1931286"/>
            <a:ext cx="707822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en-US" sz="800" b="1" dirty="0">
                <a:solidFill>
                  <a:srgbClr val="232323"/>
                </a:solidFill>
                <a:latin typeface="Arial"/>
              </a:rPr>
              <a:t>Age Features</a:t>
            </a:r>
            <a:endParaRPr sz="800" b="1" dirty="0">
              <a:solidFill>
                <a:srgbClr val="232323"/>
              </a:solidFill>
              <a:latin typeface="Arial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D0D5DFB-EA4C-4BDF-3CAB-FA5947409277}"/>
              </a:ext>
            </a:extLst>
          </p:cNvPr>
          <p:cNvCxnSpPr>
            <a:endCxn id="92" idx="0"/>
          </p:cNvCxnSpPr>
          <p:nvPr/>
        </p:nvCxnSpPr>
        <p:spPr>
          <a:xfrm>
            <a:off x="6730852" y="1213097"/>
            <a:ext cx="0" cy="35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C036E62-6F76-FA9B-088F-89FD9F624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617" y="489848"/>
            <a:ext cx="787994" cy="723119"/>
          </a:xfrm>
          <a:prstGeom prst="rect">
            <a:avLst/>
          </a:prstGeom>
        </p:spPr>
      </p:pic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2E4FBF1E-58CA-4192-BF41-3CB53AFA9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928106"/>
              </p:ext>
            </p:extLst>
          </p:nvPr>
        </p:nvGraphicFramePr>
        <p:xfrm>
          <a:off x="4463054" y="1572022"/>
          <a:ext cx="83312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80110259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27469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55798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11194644"/>
                    </a:ext>
                  </a:extLst>
                </a:gridCol>
              </a:tblGrid>
              <a:tr h="191559"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" b="1" dirty="0">
                          <a:solidFill>
                            <a:schemeClr val="tx1"/>
                          </a:solidFill>
                        </a:rPr>
                        <a:t>---</a:t>
                      </a:r>
                      <a:endParaRPr lang="id-ID" sz="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d-ID" sz="400" b="1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266306"/>
                  </a:ext>
                </a:extLst>
              </a:tr>
            </a:tbl>
          </a:graphicData>
        </a:graphic>
      </p:graphicFrame>
      <p:sp>
        <p:nvSpPr>
          <p:cNvPr id="97" name="TextBox 96">
            <a:extLst>
              <a:ext uri="{FF2B5EF4-FFF2-40B4-BE49-F238E27FC236}">
                <a16:creationId xmlns:a16="http://schemas.microsoft.com/office/drawing/2014/main" id="{E025BD9C-82EB-BAA5-C233-C131E5432B14}"/>
              </a:ext>
            </a:extLst>
          </p:cNvPr>
          <p:cNvSpPr txBox="1"/>
          <p:nvPr/>
        </p:nvSpPr>
        <p:spPr>
          <a:xfrm>
            <a:off x="4504863" y="1931156"/>
            <a:ext cx="749501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en-US" sz="800" b="1" dirty="0">
                <a:solidFill>
                  <a:srgbClr val="232323"/>
                </a:solidFill>
                <a:latin typeface="Arial"/>
              </a:rPr>
              <a:t>Face Features</a:t>
            </a:r>
            <a:endParaRPr sz="800" b="1" dirty="0">
              <a:solidFill>
                <a:srgbClr val="232323"/>
              </a:solidFill>
              <a:latin typeface="Arial"/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94DD977-1A64-806F-99CC-43F7DEEDF7B0}"/>
              </a:ext>
            </a:extLst>
          </p:cNvPr>
          <p:cNvCxnSpPr>
            <a:endCxn id="96" idx="0"/>
          </p:cNvCxnSpPr>
          <p:nvPr/>
        </p:nvCxnSpPr>
        <p:spPr>
          <a:xfrm>
            <a:off x="4879614" y="1212967"/>
            <a:ext cx="0" cy="35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C57D1A0A-BC76-0CEA-5409-4F7126DB7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301137"/>
              </p:ext>
            </p:extLst>
          </p:nvPr>
        </p:nvGraphicFramePr>
        <p:xfrm>
          <a:off x="7585344" y="826770"/>
          <a:ext cx="17548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57">
                  <a:extLst>
                    <a:ext uri="{9D8B030D-6E8A-4147-A177-3AD203B41FA5}">
                      <a16:colId xmlns:a16="http://schemas.microsoft.com/office/drawing/2014/main" val="349874918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30016262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3217981499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87692018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28653189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823955466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943748072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86315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id-ID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</a:t>
                      </a:r>
                      <a:endParaRPr lang="id-ID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83945"/>
                  </a:ext>
                </a:extLst>
              </a:tr>
            </a:tbl>
          </a:graphicData>
        </a:graphic>
      </p:graphicFrame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6AF85780-96F9-DB2F-D0B8-E9E92ACDD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942173"/>
              </p:ext>
            </p:extLst>
          </p:nvPr>
        </p:nvGraphicFramePr>
        <p:xfrm>
          <a:off x="7585344" y="1586485"/>
          <a:ext cx="175485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57">
                  <a:extLst>
                    <a:ext uri="{9D8B030D-6E8A-4147-A177-3AD203B41FA5}">
                      <a16:colId xmlns:a16="http://schemas.microsoft.com/office/drawing/2014/main" val="349874918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30016262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3217981499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87692018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286531894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823955466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943748072"/>
                    </a:ext>
                  </a:extLst>
                </a:gridCol>
                <a:gridCol w="219357">
                  <a:extLst>
                    <a:ext uri="{9D8B030D-6E8A-4147-A177-3AD203B41FA5}">
                      <a16:colId xmlns:a16="http://schemas.microsoft.com/office/drawing/2014/main" val="1863158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83945"/>
                  </a:ext>
                </a:extLst>
              </a:tr>
            </a:tbl>
          </a:graphicData>
        </a:graphic>
      </p:graphicFrame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7374BEA-7638-CF4D-0568-E0B6D80DA32E}"/>
              </a:ext>
            </a:extLst>
          </p:cNvPr>
          <p:cNvCxnSpPr>
            <a:cxnSpLocks/>
            <a:stCxn id="102" idx="2"/>
            <a:endCxn id="104" idx="0"/>
          </p:cNvCxnSpPr>
          <p:nvPr/>
        </p:nvCxnSpPr>
        <p:spPr>
          <a:xfrm>
            <a:off x="8462772" y="1192530"/>
            <a:ext cx="0" cy="393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Cylinder 107">
            <a:extLst>
              <a:ext uri="{FF2B5EF4-FFF2-40B4-BE49-F238E27FC236}">
                <a16:creationId xmlns:a16="http://schemas.microsoft.com/office/drawing/2014/main" id="{99A86346-3CEB-7179-A8DD-C15FD8955459}"/>
              </a:ext>
            </a:extLst>
          </p:cNvPr>
          <p:cNvSpPr/>
          <p:nvPr/>
        </p:nvSpPr>
        <p:spPr>
          <a:xfrm>
            <a:off x="10595356" y="758879"/>
            <a:ext cx="508000" cy="363801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0%</a:t>
            </a:r>
            <a:endParaRPr kumimoji="0" lang="id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0" name="Cylinder 109">
            <a:extLst>
              <a:ext uri="{FF2B5EF4-FFF2-40B4-BE49-F238E27FC236}">
                <a16:creationId xmlns:a16="http://schemas.microsoft.com/office/drawing/2014/main" id="{1BFE855A-7F5D-7111-9DDA-1AAFACE928E4}"/>
              </a:ext>
            </a:extLst>
          </p:cNvPr>
          <p:cNvSpPr/>
          <p:nvPr/>
        </p:nvSpPr>
        <p:spPr>
          <a:xfrm>
            <a:off x="10087356" y="1446835"/>
            <a:ext cx="508000" cy="363801"/>
          </a:xfrm>
          <a:prstGeom prst="can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80%</a:t>
            </a:r>
            <a:endParaRPr lang="id-ID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Cylinder 111">
            <a:extLst>
              <a:ext uri="{FF2B5EF4-FFF2-40B4-BE49-F238E27FC236}">
                <a16:creationId xmlns:a16="http://schemas.microsoft.com/office/drawing/2014/main" id="{B0B922A1-686A-E23C-F737-829F857F4E9D}"/>
              </a:ext>
            </a:extLst>
          </p:cNvPr>
          <p:cNvSpPr/>
          <p:nvPr/>
        </p:nvSpPr>
        <p:spPr>
          <a:xfrm>
            <a:off x="11103356" y="1462816"/>
            <a:ext cx="508000" cy="363801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20%</a:t>
            </a:r>
            <a:endParaRPr kumimoji="0" lang="id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A040FF8-7ED0-48BF-B7EF-EA47DADC8783}"/>
              </a:ext>
            </a:extLst>
          </p:cNvPr>
          <p:cNvSpPr txBox="1"/>
          <p:nvPr/>
        </p:nvSpPr>
        <p:spPr>
          <a:xfrm>
            <a:off x="10529910" y="1161793"/>
            <a:ext cx="638894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en-US" sz="800" b="1" dirty="0">
                <a:solidFill>
                  <a:srgbClr val="232323"/>
                </a:solidFill>
                <a:latin typeface="Arial"/>
              </a:rPr>
              <a:t>Full Dataset</a:t>
            </a:r>
            <a:endParaRPr sz="800" b="1" dirty="0">
              <a:solidFill>
                <a:srgbClr val="232323"/>
              </a:solidFill>
              <a:latin typeface="Arial"/>
            </a:endParaRP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27F40934-5F81-E337-302D-74890DB84CD7}"/>
              </a:ext>
            </a:extLst>
          </p:cNvPr>
          <p:cNvCxnSpPr>
            <a:cxnSpLocks/>
            <a:stCxn id="108" idx="2"/>
            <a:endCxn id="110" idx="0"/>
          </p:cNvCxnSpPr>
          <p:nvPr/>
        </p:nvCxnSpPr>
        <p:spPr>
          <a:xfrm rot="10800000" flipV="1">
            <a:off x="10341356" y="940779"/>
            <a:ext cx="254000" cy="5970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6CE392AE-3AD1-B7A0-B6B0-0B864A75455F}"/>
              </a:ext>
            </a:extLst>
          </p:cNvPr>
          <p:cNvCxnSpPr>
            <a:stCxn id="108" idx="4"/>
            <a:endCxn id="112" idx="0"/>
          </p:cNvCxnSpPr>
          <p:nvPr/>
        </p:nvCxnSpPr>
        <p:spPr>
          <a:xfrm>
            <a:off x="11103356" y="940780"/>
            <a:ext cx="254000" cy="6129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4A227ADD-D715-3FC1-9D1E-0439CF3196CA}"/>
              </a:ext>
            </a:extLst>
          </p:cNvPr>
          <p:cNvSpPr txBox="1"/>
          <p:nvPr/>
        </p:nvSpPr>
        <p:spPr>
          <a:xfrm>
            <a:off x="10016300" y="1850560"/>
            <a:ext cx="650114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en-US" sz="800" b="1" dirty="0">
                <a:solidFill>
                  <a:srgbClr val="232323"/>
                </a:solidFill>
                <a:latin typeface="Arial"/>
              </a:rPr>
              <a:t>Training Set</a:t>
            </a:r>
            <a:endParaRPr sz="800" b="1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8542736-135A-2AF4-2B8B-4F93A99A1226}"/>
              </a:ext>
            </a:extLst>
          </p:cNvPr>
          <p:cNvSpPr txBox="1"/>
          <p:nvPr/>
        </p:nvSpPr>
        <p:spPr>
          <a:xfrm>
            <a:off x="11117311" y="1863629"/>
            <a:ext cx="456152" cy="141577"/>
          </a:xfrm>
          <a:prstGeom prst="rect">
            <a:avLst/>
          </a:prstGeom>
          <a:noFill/>
        </p:spPr>
        <p:txBody>
          <a:bodyPr wrap="none" lIns="27432" tIns="9144" rIns="27432" bIns="9144" anchor="ctr">
            <a:spAutoFit/>
          </a:bodyPr>
          <a:lstStyle/>
          <a:p>
            <a:pPr algn="ctr"/>
            <a:r>
              <a:rPr lang="en-US" sz="800" b="1" dirty="0">
                <a:solidFill>
                  <a:srgbClr val="232323"/>
                </a:solidFill>
                <a:latin typeface="Arial"/>
              </a:rPr>
              <a:t>Test Set</a:t>
            </a:r>
            <a:endParaRPr sz="800" b="1" dirty="0">
              <a:solidFill>
                <a:srgbClr val="232323"/>
              </a:solidFill>
              <a:latin typeface="Arial"/>
            </a:endParaRPr>
          </a:p>
        </p:txBody>
      </p:sp>
      <p:pic>
        <p:nvPicPr>
          <p:cNvPr id="202" name="Picture 201">
            <a:extLst>
              <a:ext uri="{FF2B5EF4-FFF2-40B4-BE49-F238E27FC236}">
                <a16:creationId xmlns:a16="http://schemas.microsoft.com/office/drawing/2014/main" id="{06520BBF-8252-BFDB-44CC-5B4B588D8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45" y="3406071"/>
            <a:ext cx="2059674" cy="1527184"/>
          </a:xfrm>
          <a:prstGeom prst="rect">
            <a:avLst/>
          </a:prstGeom>
        </p:spPr>
      </p:pic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13EFF8A-3A04-02F4-75CD-0FA865E509E5}"/>
              </a:ext>
            </a:extLst>
          </p:cNvPr>
          <p:cNvSpPr/>
          <p:nvPr/>
        </p:nvSpPr>
        <p:spPr>
          <a:xfrm>
            <a:off x="2552700" y="3575304"/>
            <a:ext cx="1024128" cy="1188720"/>
          </a:xfrm>
          <a:prstGeom prst="roundRect">
            <a:avLst/>
          </a:prstGeom>
          <a:solidFill>
            <a:srgbClr val="F7F3FA"/>
          </a:solidFill>
          <a:ln w="15240">
            <a:solidFill>
              <a:srgbClr val="8B70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 err="1">
                <a:solidFill>
                  <a:srgbClr val="8B70B1"/>
                </a:solidFill>
                <a:latin typeface="Arial"/>
              </a:rPr>
              <a:t>MinMaxScaler</a:t>
            </a:r>
            <a:endParaRPr lang="en-US" sz="800" b="1" dirty="0">
              <a:solidFill>
                <a:srgbClr val="8B70B1"/>
              </a:solidFill>
              <a:latin typeface="Arial"/>
            </a:endParaRPr>
          </a:p>
          <a:p>
            <a:pPr algn="ctr"/>
            <a:r>
              <a:rPr lang="en-US" sz="800" b="1" dirty="0">
                <a:solidFill>
                  <a:srgbClr val="8B70B1"/>
                </a:solidFill>
                <a:latin typeface="Arial"/>
              </a:rPr>
              <a:t>(Optional)</a:t>
            </a:r>
          </a:p>
          <a:p>
            <a:pPr algn="ctr"/>
            <a:endParaRPr lang="en-US" sz="100" b="1" dirty="0">
              <a:solidFill>
                <a:srgbClr val="8B70B1"/>
              </a:solidFill>
              <a:latin typeface="Arial"/>
            </a:endParaRPr>
          </a:p>
          <a:p>
            <a:pPr algn="ctr"/>
            <a:r>
              <a:rPr lang="en-US" sz="800" b="1" dirty="0">
                <a:solidFill>
                  <a:srgbClr val="8B70B1"/>
                </a:solidFill>
                <a:latin typeface="Arial"/>
              </a:rPr>
              <a:t>↓</a:t>
            </a:r>
          </a:p>
          <a:p>
            <a:pPr algn="ctr"/>
            <a:endParaRPr lang="en-US" sz="100" b="1" dirty="0">
              <a:solidFill>
                <a:srgbClr val="8B70B1"/>
              </a:solidFill>
              <a:latin typeface="Arial"/>
            </a:endParaRPr>
          </a:p>
          <a:p>
            <a:pPr algn="ctr"/>
            <a:r>
              <a:rPr lang="en-US" sz="800" b="1" dirty="0">
                <a:solidFill>
                  <a:srgbClr val="8B70B1"/>
                </a:solidFill>
                <a:latin typeface="Arial"/>
              </a:rPr>
              <a:t>PCA</a:t>
            </a:r>
          </a:p>
          <a:p>
            <a:pPr algn="ctr"/>
            <a:r>
              <a:rPr lang="en-US" sz="800" b="1" dirty="0">
                <a:solidFill>
                  <a:srgbClr val="8B70B1"/>
                </a:solidFill>
                <a:latin typeface="Arial"/>
              </a:rPr>
              <a:t>(Optional)</a:t>
            </a:r>
          </a:p>
          <a:p>
            <a:pPr algn="ctr"/>
            <a:endParaRPr lang="en-US" sz="100" b="1" dirty="0">
              <a:solidFill>
                <a:srgbClr val="8B70B1"/>
              </a:solidFill>
              <a:latin typeface="Arial"/>
            </a:endParaRPr>
          </a:p>
          <a:p>
            <a:pPr algn="ctr"/>
            <a:r>
              <a:rPr lang="en-US" sz="800" b="1" dirty="0">
                <a:solidFill>
                  <a:srgbClr val="8B70B1"/>
                </a:solidFill>
                <a:latin typeface="Arial"/>
              </a:rPr>
              <a:t>↓</a:t>
            </a:r>
          </a:p>
          <a:p>
            <a:pPr algn="ctr"/>
            <a:endParaRPr lang="en-US" sz="100" b="1" dirty="0">
              <a:solidFill>
                <a:srgbClr val="8B70B1"/>
              </a:solidFill>
              <a:latin typeface="Arial"/>
            </a:endParaRPr>
          </a:p>
          <a:p>
            <a:pPr algn="ctr"/>
            <a:r>
              <a:rPr lang="en-US" sz="800" b="1" dirty="0">
                <a:solidFill>
                  <a:srgbClr val="8B70B1"/>
                </a:solidFill>
                <a:latin typeface="Arial"/>
              </a:rPr>
              <a:t>Classifier</a:t>
            </a:r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98B3DA95-27C7-3A65-64EE-E062A4751492}"/>
              </a:ext>
            </a:extLst>
          </p:cNvPr>
          <p:cNvCxnSpPr/>
          <p:nvPr/>
        </p:nvCxnSpPr>
        <p:spPr>
          <a:xfrm>
            <a:off x="3576828" y="4169663"/>
            <a:ext cx="182880" cy="0"/>
          </a:xfrm>
          <a:prstGeom prst="line">
            <a:avLst/>
          </a:prstGeom>
          <a:ln w="1778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C75D05B-B206-22E6-D919-6A01C8DC2158}"/>
              </a:ext>
            </a:extLst>
          </p:cNvPr>
          <p:cNvSpPr/>
          <p:nvPr/>
        </p:nvSpPr>
        <p:spPr>
          <a:xfrm>
            <a:off x="3759708" y="3575304"/>
            <a:ext cx="1024128" cy="1188720"/>
          </a:xfrm>
          <a:prstGeom prst="roundRect">
            <a:avLst/>
          </a:prstGeom>
          <a:solidFill>
            <a:srgbClr val="EFF6FB"/>
          </a:solidFill>
          <a:ln w="15240">
            <a:solidFill>
              <a:srgbClr val="589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b="1" dirty="0">
                <a:solidFill>
                  <a:srgbClr val="5891BE"/>
                </a:solidFill>
                <a:latin typeface="Arial"/>
              </a:rPr>
              <a:t>Hyperparameter</a:t>
            </a:r>
          </a:p>
          <a:p>
            <a:pPr algn="ctr"/>
            <a:r>
              <a:rPr lang="en-US" sz="800" b="1" dirty="0">
                <a:solidFill>
                  <a:srgbClr val="5891BE"/>
                </a:solidFill>
                <a:latin typeface="Arial"/>
              </a:rPr>
              <a:t>Tuning</a:t>
            </a:r>
          </a:p>
          <a:p>
            <a:pPr algn="ctr"/>
            <a:r>
              <a:rPr lang="en-US" sz="800" b="1" dirty="0">
                <a:solidFill>
                  <a:srgbClr val="5891BE"/>
                </a:solidFill>
                <a:latin typeface="Arial"/>
              </a:rPr>
              <a:t>(Grid Search)</a:t>
            </a:r>
            <a:endParaRPr sz="800" b="1" dirty="0">
              <a:solidFill>
                <a:srgbClr val="5891BE"/>
              </a:solidFill>
              <a:latin typeface="Arial"/>
            </a:endParaRPr>
          </a:p>
        </p:txBody>
      </p:sp>
      <p:cxnSp>
        <p:nvCxnSpPr>
          <p:cNvPr id="41" name="Connector 40">
            <a:extLst>
              <a:ext uri="{FF2B5EF4-FFF2-40B4-BE49-F238E27FC236}">
                <a16:creationId xmlns:a16="http://schemas.microsoft.com/office/drawing/2014/main" id="{CA95179C-46F0-B362-453A-79CE2A6A18BE}"/>
              </a:ext>
            </a:extLst>
          </p:cNvPr>
          <p:cNvCxnSpPr/>
          <p:nvPr/>
        </p:nvCxnSpPr>
        <p:spPr>
          <a:xfrm>
            <a:off x="4783836" y="4169663"/>
            <a:ext cx="310896" cy="0"/>
          </a:xfrm>
          <a:prstGeom prst="line">
            <a:avLst/>
          </a:prstGeom>
          <a:ln w="1778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7A811E9-1436-E5B2-4B9D-8B92A25FC625}"/>
              </a:ext>
            </a:extLst>
          </p:cNvPr>
          <p:cNvSpPr/>
          <p:nvPr/>
        </p:nvSpPr>
        <p:spPr>
          <a:xfrm>
            <a:off x="5094732" y="3575304"/>
            <a:ext cx="1024128" cy="1188720"/>
          </a:xfrm>
          <a:prstGeom prst="roundRect">
            <a:avLst/>
          </a:prstGeom>
          <a:solidFill>
            <a:srgbClr val="F1F8F1"/>
          </a:solidFill>
          <a:ln w="15240">
            <a:solidFill>
              <a:srgbClr val="68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689E6B"/>
                </a:solidFill>
                <a:latin typeface="Arial"/>
              </a:rPr>
              <a:t>Classifier</a:t>
            </a:r>
            <a:r>
              <a:rPr lang="en-US" sz="800" b="1" dirty="0">
                <a:solidFill>
                  <a:srgbClr val="689E6B"/>
                </a:solidFill>
                <a:latin typeface="Arial"/>
              </a:rPr>
              <a:t> Training</a:t>
            </a:r>
          </a:p>
          <a:p>
            <a:pPr algn="ctr"/>
            <a:r>
              <a:rPr lang="en-US" sz="800" b="1" dirty="0">
                <a:solidFill>
                  <a:srgbClr val="689E6B"/>
                </a:solidFill>
                <a:latin typeface="Arial"/>
              </a:rPr>
              <a:t>(with best params)</a:t>
            </a:r>
            <a:endParaRPr sz="800" b="1" dirty="0">
              <a:solidFill>
                <a:srgbClr val="689E6B"/>
              </a:solidFill>
              <a:latin typeface="Arial"/>
            </a:endParaRP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7F486823-1284-6C74-4EEE-443DF17F83B1}"/>
              </a:ext>
            </a:extLst>
          </p:cNvPr>
          <p:cNvCxnSpPr/>
          <p:nvPr/>
        </p:nvCxnSpPr>
        <p:spPr>
          <a:xfrm>
            <a:off x="6118860" y="4169663"/>
            <a:ext cx="201168" cy="0"/>
          </a:xfrm>
          <a:prstGeom prst="line">
            <a:avLst/>
          </a:prstGeom>
          <a:ln w="1778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832C579-B28F-95DA-B5E6-6A09952DEF83}"/>
              </a:ext>
            </a:extLst>
          </p:cNvPr>
          <p:cNvSpPr/>
          <p:nvPr/>
        </p:nvSpPr>
        <p:spPr>
          <a:xfrm>
            <a:off x="6320028" y="3575304"/>
            <a:ext cx="1024128" cy="1188720"/>
          </a:xfrm>
          <a:prstGeom prst="roundRect">
            <a:avLst/>
          </a:prstGeom>
          <a:solidFill>
            <a:srgbClr val="FCF7EE"/>
          </a:solidFill>
          <a:ln w="15240">
            <a:solidFill>
              <a:srgbClr val="D38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dirty="0">
                <a:solidFill>
                  <a:srgbClr val="D38F41"/>
                </a:solidFill>
                <a:latin typeface="Arial"/>
              </a:rPr>
              <a:t>Best</a:t>
            </a:r>
            <a:r>
              <a:rPr lang="en-US" sz="800" b="1" dirty="0">
                <a:solidFill>
                  <a:srgbClr val="D38F41"/>
                </a:solidFill>
                <a:latin typeface="Arial"/>
              </a:rPr>
              <a:t> Classifier Model</a:t>
            </a:r>
            <a:endParaRPr sz="1400" dirty="0"/>
          </a:p>
        </p:txBody>
      </p:sp>
      <p:sp>
        <p:nvSpPr>
          <p:cNvPr id="207" name="Cylinder 206">
            <a:extLst>
              <a:ext uri="{FF2B5EF4-FFF2-40B4-BE49-F238E27FC236}">
                <a16:creationId xmlns:a16="http://schemas.microsoft.com/office/drawing/2014/main" id="{9C025610-7697-3F8A-65D1-D9540A72E69B}"/>
              </a:ext>
            </a:extLst>
          </p:cNvPr>
          <p:cNvSpPr/>
          <p:nvPr/>
        </p:nvSpPr>
        <p:spPr>
          <a:xfrm>
            <a:off x="7690302" y="3298916"/>
            <a:ext cx="804276" cy="648245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20%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A82C2D8F-B078-0AE0-81DA-99A4FBC43715}"/>
              </a:ext>
            </a:extLst>
          </p:cNvPr>
          <p:cNvSpPr txBox="1"/>
          <p:nvPr/>
        </p:nvSpPr>
        <p:spPr>
          <a:xfrm>
            <a:off x="9832086" y="3623038"/>
            <a:ext cx="18516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F1-Score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Confusion Matrix</a:t>
            </a:r>
            <a:endParaRPr lang="id-ID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717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93</Words>
  <Application>Microsoft Office PowerPoint</Application>
  <PresentationFormat>Widescreen</PresentationFormat>
  <Paragraphs>116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rafyaa</cp:lastModifiedBy>
  <cp:revision>48</cp:revision>
  <dcterms:created xsi:type="dcterms:W3CDTF">2013-01-27T09:14:16Z</dcterms:created>
  <dcterms:modified xsi:type="dcterms:W3CDTF">2026-09-01T08:58:59Z</dcterms:modified>
  <cp:category/>
</cp:coreProperties>
</file>